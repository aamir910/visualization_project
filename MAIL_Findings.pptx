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notesViewPr>
    <p:cSldViewPr snapToGrid="0" snapToObjects="1">
      <p:cViewPr varScale="1">
        <p:scale>
          <a:sx n="48" d="100"/>
          <a:sy n="48" d="100"/>
        </p:scale>
        <p:origin x="4872"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008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being here. Before I begin, I want to say that this presentation literally would not exist without the people in this room. You sat with me, you spoke openly about a course that was still very fresh, and you trusted me with the messy parts as well as the proud parts. So thank you. What you are about to see is my best attempt to give your words back to you, organized through a theoretical lens, and to ask you what we should do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with appreciation, not findings. You gave me time you did not have. You spoke about role ambiguity, communication breakdowns, and budget cuts, but you also spoke about pride, about student projects you loved, and about colleagues who showed up for each other. I have tried to honor all of that. The quotes you will see throughout these slides are yours, anonymized. If you recognize your own voice on a slide, please know it is here because it captured something important, not to single anyone 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 set out to answer is simple to ask and hard to answer. MAIL is an interdisciplinary Arts, Design and Media course. We know interdisciplinary work is supposed to drive innovation. But we also know it is hard. What I wanted to understand was, what actually happens in the seams, in the friction between disciplines, between teachers and administration, between intention and delivery. Not who failed, but where the system failed to align with itself. That framing matters because it shifts the conversation from blame to design.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that question I used Cultural-Historical Activity Theory, third generation, developed by Engeström. Don't worry about the name. The useful part is on the screen. CHAT-3g says any human activity has seven moving parts: a Subject, who is doing the work; an Object, what they are working toward; Rules, both formal and informal; Tools, physical and conceptual; a Community of others involved; a Division of Labor between them; and Outcomes that result. The power of this framework is it forces you to look at the spaces between the parts, because that is where friction lives. I coded all of your interview transcripts in NVivo against these seven components.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findings. I am grouping the seven components into four diagnostic pairs to keep us moving. First pair: Subject and Object. The Subject is you, the faculty. What I heard is that your roles evolved reactively rather than by design. People joined late. People described themselves as protectors of a framework they had not built. The Object, what the course was for, also drifted. You wanted innovation and student autonomy. Some students wanted discipline-specific training. So the very first misalignment is between the people doing the work and the goal of the work, and neither was fixed in place.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pair: Rules and Division of Labor. This is where the friction was sharpest. There were no clear rules. The phrase that stayed with me was, quote, everything had to be built. Roles, schedules, communication norms, all improvised. And because the rules were unclear, the labor distribution became unclear. Some of you carried double roles, course teacher and village leader at once. Others were underutilized and unsure when, or whether, you were supposed to show up. That is not a personal failing. That is what happens when a system launches without scaffolding.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pair: Tools and Community. The tools, Teams, email, the Prisma framework, were all there, but their use was informal and inconsistent. You described messages scattered across channels. That is communication overload, and it has a real cost in cognitive load and missed context. Community was similar. Real collaboration happened informally, around a lunch table, in the hallway. The villages developed strong internal identities, which is a beautiful thing, but those identities also became walls. So the course produced local belonging and global fragmentation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piece is what CHAT calls interacting activity systems. This is where the institution meets the classroom. Budget decisions made above your level cancelled guest lectures you had planned around. Pedagogical frameworks were promoted at the institutional level without the structural support to actually implement them. You named this directly: a theory-practice gap. The course was asked to be innovative on top of administrative scaffolding that was not built for innovation. That contradiction is structural, not personal.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the story turns, and this is the most important slide. The same friction that caused frustration also produced something. Because the rules were unclear, you negotiated them. Because roles were ambiguous, you defined them with each other. Because there was no script, students built things nobody had asked for, including, by your own accounts, genuinely impressive work. We call this the collaboration paradox. The course's stated goal was collaboration, and it was the absence of structure that, at real cost to all of you, ultimately forced collaboration into existence. The cost was real. So was the result. The design question for next time is how to keep the productive friction without the unproductive kind.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recommendations. Four of them, drawn directly from what you said. One: define roles before the course starts, in writing, with hours and scope. Two: pick one channel for course-wide communication and protect it. Three: build a formal community of practice for faculty, so the lunch-table conversations have a scheduled home. Four: align the institutional layer, budgets, pedagogical frameworks, scheduling, with the teaching layer before the course launches, not during. The goal is not to remove all friction. It is to remove the friction that wastes you and keep the friction that teaches.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what I have. Now I would like to give the floor back to you. I have three questions and I would genuinely like to hear your answers. Where did I get this wrong, or where did I miss something. Of these four recommendations, which one would actually change your experience the most. And what should the second iteration of MAIL hold onto from the first, even if we change everything else around it. Thank you again for your time, then and now.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143000" y="914400"/>
            <a:ext cx="7514191" cy="319088"/>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C96442"/>
                </a:solidFill>
                <a:latin typeface="Arial" pitchFamily="34" charset="0"/>
                <a:ea typeface="Arial" pitchFamily="34" charset="-122"/>
                <a:cs typeface="Arial" pitchFamily="34" charset="-120"/>
              </a:rPr>
              <a:t>● </a:t>
            </a:r>
            <a:r>
              <a:rPr lang="en-US" sz="1800" kern="0" spc="396" dirty="0">
                <a:solidFill>
                  <a:srgbClr val="4A423A"/>
                </a:solidFill>
                <a:latin typeface="Arial" pitchFamily="34" charset="0"/>
                <a:ea typeface="Arial" pitchFamily="34" charset="-122"/>
                <a:cs typeface="Arial" pitchFamily="34" charset="-120"/>
              </a:rPr>
              <a:t>MAIL COURSE STUDY · FACULTY FINDINGS</a:t>
            </a:r>
            <a:endParaRPr lang="en-US" sz="1800" dirty="0"/>
          </a:p>
        </p:txBody>
      </p:sp>
      <p:sp>
        <p:nvSpPr>
          <p:cNvPr id="3" name="Text 1"/>
          <p:cNvSpPr/>
          <p:nvPr/>
        </p:nvSpPr>
        <p:spPr>
          <a:xfrm>
            <a:off x="9428813" y="914400"/>
            <a:ext cx="7716187" cy="600075"/>
          </a:xfrm>
          <a:prstGeom prst="rect">
            <a:avLst/>
          </a:prstGeom>
          <a:noFill/>
          <a:ln/>
        </p:spPr>
        <p:txBody>
          <a:bodyPr wrap="square" lIns="25400" tIns="25400" rIns="25400" bIns="25400" rtlCol="0" anchor="t">
            <a:normAutofit/>
          </a:bodyPr>
          <a:lstStyle/>
          <a:p>
            <a:pPr marL="0" indent="0" algn="r">
              <a:buNone/>
            </a:pPr>
            <a:r>
              <a:rPr lang="en-US" sz="1800" kern="0" spc="288" dirty="0">
                <a:solidFill>
                  <a:srgbClr val="8A8174"/>
                </a:solidFill>
                <a:latin typeface="Arial" pitchFamily="34" charset="0"/>
                <a:ea typeface="Arial" pitchFamily="34" charset="-122"/>
                <a:cs typeface="Arial" pitchFamily="34" charset="-120"/>
              </a:rPr>
              <a:t>KRISTIANIA UNIVERSITY OF APPLIED SCIENCES</a:t>
            </a:r>
            <a:endParaRPr lang="en-US" sz="1800" dirty="0"/>
          </a:p>
        </p:txBody>
      </p:sp>
      <p:sp>
        <p:nvSpPr>
          <p:cNvPr id="4" name="Text 2"/>
          <p:cNvSpPr/>
          <p:nvPr/>
        </p:nvSpPr>
        <p:spPr>
          <a:xfrm>
            <a:off x="1143000" y="3692500"/>
            <a:ext cx="14716125" cy="1939975"/>
          </a:xfrm>
          <a:prstGeom prst="rect">
            <a:avLst/>
          </a:prstGeom>
          <a:noFill/>
          <a:ln/>
        </p:spPr>
        <p:txBody>
          <a:bodyPr wrap="square" lIns="25400" tIns="25400" rIns="25400" bIns="25400" rtlCol="0" anchor="t">
            <a:normAutofit/>
          </a:bodyPr>
          <a:lstStyle/>
          <a:p>
            <a:pPr marL="0" indent="0" algn="l">
              <a:lnSpc>
                <a:spcPct val="102000"/>
              </a:lnSpc>
              <a:buNone/>
            </a:pPr>
            <a:r>
              <a:rPr lang="en-US" sz="6900" b="1" kern="0" spc="-172" dirty="0">
                <a:solidFill>
                  <a:srgbClr val="1F1B16"/>
                </a:solidFill>
                <a:latin typeface="Arial" pitchFamily="34" charset="0"/>
                <a:ea typeface="Arial" pitchFamily="34" charset="-122"/>
                <a:cs typeface="Arial" pitchFamily="34" charset="-120"/>
              </a:rPr>
              <a:t>Negotiating </a:t>
            </a:r>
            <a:r>
              <a:rPr lang="en-US" sz="6900" i="1" kern="0" spc="-172" dirty="0">
                <a:solidFill>
                  <a:srgbClr val="C96442"/>
                </a:solidFill>
                <a:latin typeface="Georgia" pitchFamily="34" charset="0"/>
                <a:ea typeface="Georgia" pitchFamily="34" charset="-122"/>
                <a:cs typeface="Georgia" pitchFamily="34" charset="-120"/>
              </a:rPr>
              <a:t>Interdisciplinarity </a:t>
            </a:r>
            <a:r>
              <a:rPr lang="en-US" sz="6900" b="1" kern="0" spc="-172" dirty="0">
                <a:solidFill>
                  <a:srgbClr val="1F1B16"/>
                </a:solidFill>
                <a:latin typeface="Arial" pitchFamily="34" charset="0"/>
                <a:ea typeface="Arial" pitchFamily="34" charset="-122"/>
                <a:cs typeface="Arial" pitchFamily="34" charset="-120"/>
              </a:rPr>
              <a:t>in Arts, Design and Media.</a:t>
            </a:r>
            <a:endParaRPr lang="en-US" sz="6900" dirty="0"/>
          </a:p>
        </p:txBody>
      </p:sp>
      <p:sp>
        <p:nvSpPr>
          <p:cNvPr id="5" name="Text 3"/>
          <p:cNvSpPr/>
          <p:nvPr/>
        </p:nvSpPr>
        <p:spPr>
          <a:xfrm>
            <a:off x="1143000" y="7810500"/>
            <a:ext cx="16482060" cy="319088"/>
          </a:xfrm>
          <a:prstGeom prst="rect">
            <a:avLst/>
          </a:prstGeom>
          <a:noFill/>
          <a:ln/>
        </p:spPr>
        <p:txBody>
          <a:bodyPr wrap="square" lIns="25400" tIns="25400" rIns="25400" bIns="25400" rtlCol="0" anchor="t">
            <a:normAutofit/>
          </a:bodyPr>
          <a:lstStyle/>
          <a:p>
            <a:pPr marL="0" indent="0" algn="l">
              <a:buNone/>
            </a:pPr>
            <a:r>
              <a:rPr lang="en-US" sz="1800" kern="0" spc="396" dirty="0">
                <a:solidFill>
                  <a:srgbClr val="4A423A"/>
                </a:solidFill>
                <a:latin typeface="Arial" pitchFamily="34" charset="0"/>
                <a:ea typeface="Arial" pitchFamily="34" charset="-122"/>
                <a:cs typeface="Arial" pitchFamily="34" charset="-120"/>
              </a:rPr>
              <a:t>A CHAT-3G ANALYSIS OF FACULTY PERCEPTIONS, ROLE AMBIGUITY, AND SYSTEMIC FRICTION</a:t>
            </a:r>
            <a:endParaRPr lang="en-US" sz="1800" dirty="0"/>
          </a:p>
        </p:txBody>
      </p:sp>
      <p:sp>
        <p:nvSpPr>
          <p:cNvPr id="6" name="Shape 4"/>
          <p:cNvSpPr/>
          <p:nvPr/>
        </p:nvSpPr>
        <p:spPr>
          <a:xfrm>
            <a:off x="1143000" y="8358188"/>
            <a:ext cx="16002000" cy="9525"/>
          </a:xfrm>
          <a:prstGeom prst="rect">
            <a:avLst/>
          </a:prstGeom>
          <a:solidFill>
            <a:srgbClr val="D9D1BF"/>
          </a:solidFill>
          <a:ln/>
        </p:spPr>
        <p:txBody>
          <a:bodyPr/>
          <a:lstStyle/>
          <a:p>
            <a:endParaRPr lang="nb-NO"/>
          </a:p>
        </p:txBody>
      </p:sp>
      <p:sp>
        <p:nvSpPr>
          <p:cNvPr id="7" name="Text 5"/>
          <p:cNvSpPr/>
          <p:nvPr/>
        </p:nvSpPr>
        <p:spPr>
          <a:xfrm>
            <a:off x="1143000" y="8710613"/>
            <a:ext cx="4640025"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PRESENTER</a:t>
            </a:r>
            <a:endParaRPr lang="en-US" sz="1800" dirty="0"/>
          </a:p>
        </p:txBody>
      </p:sp>
      <p:sp>
        <p:nvSpPr>
          <p:cNvPr id="8" name="Text 6"/>
          <p:cNvSpPr/>
          <p:nvPr/>
        </p:nvSpPr>
        <p:spPr>
          <a:xfrm>
            <a:off x="1143000" y="9091613"/>
            <a:ext cx="1441847" cy="314325"/>
          </a:xfrm>
          <a:prstGeom prst="rect">
            <a:avLst/>
          </a:prstGeom>
          <a:noFill/>
          <a:ln/>
        </p:spPr>
        <p:txBody>
          <a:bodyPr wrap="square" lIns="0" tIns="0" rIns="0" bIns="0" rtlCol="0" anchor="t">
            <a:normAutofit/>
          </a:bodyPr>
          <a:lstStyle/>
          <a:p>
            <a:pPr marL="0" indent="0" algn="l">
              <a:buNone/>
            </a:pPr>
            <a:r>
              <a:rPr lang="en-US" sz="1950" kern="0" spc="78" dirty="0">
                <a:solidFill>
                  <a:srgbClr val="4A423A"/>
                </a:solidFill>
                <a:latin typeface="Arial" pitchFamily="34" charset="0"/>
                <a:ea typeface="Arial" pitchFamily="34" charset="-122"/>
                <a:cs typeface="Arial" pitchFamily="34" charset="-120"/>
              </a:rPr>
              <a:t>Ole Goethe</a:t>
            </a:r>
            <a:endParaRPr lang="en-US" sz="1950" dirty="0"/>
          </a:p>
        </p:txBody>
      </p:sp>
      <p:sp>
        <p:nvSpPr>
          <p:cNvPr id="9" name="Text 7"/>
          <p:cNvSpPr/>
          <p:nvPr/>
        </p:nvSpPr>
        <p:spPr>
          <a:xfrm>
            <a:off x="6409879" y="8710613"/>
            <a:ext cx="6178090"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AUDIENCE</a:t>
            </a:r>
            <a:endParaRPr lang="en-US" sz="1800" dirty="0"/>
          </a:p>
        </p:txBody>
      </p:sp>
      <p:sp>
        <p:nvSpPr>
          <p:cNvPr id="10" name="Text 8"/>
          <p:cNvSpPr/>
          <p:nvPr/>
        </p:nvSpPr>
        <p:spPr>
          <a:xfrm>
            <a:off x="6409879" y="9091613"/>
            <a:ext cx="3285758" cy="314325"/>
          </a:xfrm>
          <a:prstGeom prst="rect">
            <a:avLst/>
          </a:prstGeom>
          <a:noFill/>
          <a:ln/>
        </p:spPr>
        <p:txBody>
          <a:bodyPr wrap="square" lIns="0" tIns="0" rIns="0" bIns="0" rtlCol="0" anchor="t">
            <a:normAutofit/>
          </a:bodyPr>
          <a:lstStyle/>
          <a:p>
            <a:pPr marL="0" indent="0" algn="l">
              <a:buNone/>
            </a:pPr>
            <a:r>
              <a:rPr lang="en-US" sz="1950" kern="0" spc="78" dirty="0">
                <a:solidFill>
                  <a:srgbClr val="4A423A"/>
                </a:solidFill>
                <a:latin typeface="Arial" pitchFamily="34" charset="0"/>
                <a:ea typeface="Arial" pitchFamily="34" charset="-122"/>
                <a:cs typeface="Arial" pitchFamily="34" charset="-120"/>
              </a:rPr>
              <a:t>MAIL faculty &amp; participants</a:t>
            </a:r>
            <a:endParaRPr lang="en-US" sz="1950" dirty="0"/>
          </a:p>
        </p:txBody>
      </p:sp>
      <p:sp>
        <p:nvSpPr>
          <p:cNvPr id="11" name="Text 9"/>
          <p:cNvSpPr/>
          <p:nvPr/>
        </p:nvSpPr>
        <p:spPr>
          <a:xfrm>
            <a:off x="13170024" y="8710613"/>
            <a:ext cx="4094225"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DATE</a:t>
            </a:r>
            <a:endParaRPr lang="en-US" sz="1800" dirty="0"/>
          </a:p>
        </p:txBody>
      </p:sp>
      <p:sp>
        <p:nvSpPr>
          <p:cNvPr id="12" name="Text 10"/>
          <p:cNvSpPr/>
          <p:nvPr/>
        </p:nvSpPr>
        <p:spPr>
          <a:xfrm>
            <a:off x="13170024" y="9091613"/>
            <a:ext cx="1243087" cy="314325"/>
          </a:xfrm>
          <a:prstGeom prst="rect">
            <a:avLst/>
          </a:prstGeom>
          <a:noFill/>
          <a:ln/>
        </p:spPr>
        <p:txBody>
          <a:bodyPr wrap="square" lIns="0" tIns="0" rIns="0" bIns="0" rtlCol="0" anchor="t">
            <a:normAutofit/>
          </a:bodyPr>
          <a:lstStyle/>
          <a:p>
            <a:pPr marL="0" indent="0" algn="l">
              <a:buNone/>
            </a:pPr>
            <a:r>
              <a:rPr lang="en-US" sz="1950" kern="0" spc="78" dirty="0">
                <a:solidFill>
                  <a:srgbClr val="4A423A"/>
                </a:solidFill>
                <a:latin typeface="Arial" pitchFamily="34" charset="0"/>
                <a:ea typeface="Arial" pitchFamily="34" charset="-122"/>
                <a:cs typeface="Arial" pitchFamily="34" charset="-120"/>
              </a:rPr>
              <a:t>May 2026</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1143000" y="3195638"/>
            <a:ext cx="95250" cy="95250"/>
          </a:xfrm>
          <a:prstGeom prst="ellipse">
            <a:avLst/>
          </a:prstGeom>
          <a:solidFill>
            <a:srgbClr val="C96442"/>
          </a:solidFill>
          <a:ln/>
        </p:spPr>
        <p:txBody>
          <a:bodyPr/>
          <a:lstStyle/>
          <a:p>
            <a:endParaRPr lang="nb-NO"/>
          </a:p>
        </p:txBody>
      </p:sp>
      <p:sp>
        <p:nvSpPr>
          <p:cNvPr id="3" name="Text 1"/>
          <p:cNvSpPr/>
          <p:nvPr/>
        </p:nvSpPr>
        <p:spPr>
          <a:xfrm>
            <a:off x="1409700" y="3102769"/>
            <a:ext cx="415156" cy="31908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1B16"/>
                </a:solidFill>
                <a:latin typeface="Arial" pitchFamily="34" charset="0"/>
                <a:ea typeface="Arial" pitchFamily="34" charset="-122"/>
                <a:cs typeface="Arial" pitchFamily="34" charset="-120"/>
              </a:rPr>
              <a:t>02</a:t>
            </a:r>
            <a:endParaRPr lang="en-US" sz="1800" dirty="0"/>
          </a:p>
        </p:txBody>
      </p:sp>
      <p:sp>
        <p:nvSpPr>
          <p:cNvPr id="4" name="Text 2"/>
          <p:cNvSpPr/>
          <p:nvPr/>
        </p:nvSpPr>
        <p:spPr>
          <a:xfrm>
            <a:off x="1920106" y="3102768"/>
            <a:ext cx="4540655" cy="547687"/>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BEFORE WE BEGIN</a:t>
            </a:r>
            <a:endParaRPr lang="en-US" sz="1800" dirty="0"/>
          </a:p>
        </p:txBody>
      </p:sp>
      <p:sp>
        <p:nvSpPr>
          <p:cNvPr id="5" name="Text 3"/>
          <p:cNvSpPr/>
          <p:nvPr/>
        </p:nvSpPr>
        <p:spPr>
          <a:xfrm>
            <a:off x="1143000" y="4145756"/>
            <a:ext cx="14716125" cy="1102965"/>
          </a:xfrm>
          <a:prstGeom prst="rect">
            <a:avLst/>
          </a:prstGeom>
          <a:noFill/>
          <a:ln/>
        </p:spPr>
        <p:txBody>
          <a:bodyPr wrap="square" lIns="25400" tIns="25400" rIns="25400" bIns="25400" rtlCol="0" anchor="t">
            <a:normAutofit lnSpcReduction="10000"/>
          </a:bodyPr>
          <a:lstStyle/>
          <a:p>
            <a:pPr marL="0" indent="0" algn="l">
              <a:lnSpc>
                <a:spcPct val="105000"/>
              </a:lnSpc>
              <a:buNone/>
            </a:pPr>
            <a:r>
              <a:rPr lang="en-US" sz="7200" kern="0" spc="-144" dirty="0">
                <a:solidFill>
                  <a:srgbClr val="1F1B16"/>
                </a:solidFill>
                <a:latin typeface="Georgia" pitchFamily="34" charset="0"/>
                <a:ea typeface="Georgia" pitchFamily="34" charset="-122"/>
                <a:cs typeface="Georgia" pitchFamily="34" charset="-120"/>
              </a:rPr>
              <a:t>First; </a:t>
            </a:r>
            <a:r>
              <a:rPr lang="en-US" sz="7200" i="1" kern="0" spc="-144" dirty="0">
                <a:solidFill>
                  <a:srgbClr val="C96442"/>
                </a:solidFill>
                <a:latin typeface="Georgia" pitchFamily="34" charset="0"/>
                <a:ea typeface="Georgia" pitchFamily="34" charset="-122"/>
                <a:cs typeface="Georgia" pitchFamily="34" charset="-120"/>
              </a:rPr>
              <a:t>thank you</a:t>
            </a:r>
            <a:r>
              <a:rPr lang="en-US" sz="7200" kern="0" spc="-144" dirty="0">
                <a:solidFill>
                  <a:srgbClr val="1F1B16"/>
                </a:solidFill>
                <a:latin typeface="Georgia" pitchFamily="34" charset="0"/>
                <a:ea typeface="Georgia" pitchFamily="34" charset="-122"/>
                <a:cs typeface="Georgia" pitchFamily="34" charset="-120"/>
              </a:rPr>
              <a:t>.</a:t>
            </a:r>
            <a:endParaRPr lang="en-US" sz="7200" dirty="0"/>
          </a:p>
        </p:txBody>
      </p:sp>
      <p:sp>
        <p:nvSpPr>
          <p:cNvPr id="6" name="Text 4"/>
          <p:cNvSpPr/>
          <p:nvPr/>
        </p:nvSpPr>
        <p:spPr>
          <a:xfrm>
            <a:off x="1143000" y="5744021"/>
            <a:ext cx="14716125" cy="1478235"/>
          </a:xfrm>
          <a:prstGeom prst="rect">
            <a:avLst/>
          </a:prstGeom>
          <a:noFill/>
          <a:ln/>
        </p:spPr>
        <p:txBody>
          <a:bodyPr wrap="square" lIns="25400" tIns="25400" rIns="25400" bIns="25400" rtlCol="0" anchor="t">
            <a:normAutofit/>
          </a:bodyPr>
          <a:lstStyle/>
          <a:p>
            <a:pPr marL="0" indent="0" algn="l">
              <a:lnSpc>
                <a:spcPct val="140000"/>
              </a:lnSpc>
              <a:buNone/>
            </a:pPr>
            <a:r>
              <a:rPr lang="en-US" sz="2700" kern="0" spc="-6" dirty="0">
                <a:solidFill>
                  <a:srgbClr val="4A423A"/>
                </a:solidFill>
                <a:latin typeface="Arial" pitchFamily="34" charset="0"/>
                <a:ea typeface="Arial" pitchFamily="34" charset="-122"/>
                <a:cs typeface="Arial" pitchFamily="34" charset="-120"/>
              </a:rPr>
              <a:t>This study exists because you sat with me and spoke openly about a course that was still very fresh. The quotes you'll see today are yours, anonymized. They're here to honour what you said, not to single anyone out.</a:t>
            </a:r>
            <a:endParaRPr lang="en-US" sz="2700" dirty="0"/>
          </a:p>
        </p:txBody>
      </p:sp>
      <p:sp>
        <p:nvSpPr>
          <p:cNvPr id="7" name="Shape 5"/>
          <p:cNvSpPr/>
          <p:nvPr/>
        </p:nvSpPr>
        <p:spPr>
          <a:xfrm>
            <a:off x="1143000" y="9329738"/>
            <a:ext cx="16002000" cy="9525"/>
          </a:xfrm>
          <a:prstGeom prst="rect">
            <a:avLst/>
          </a:prstGeom>
          <a:solidFill>
            <a:srgbClr val="D9D1BF"/>
          </a:solidFill>
          <a:ln/>
        </p:spPr>
        <p:txBody>
          <a:bodyPr/>
          <a:lstStyle/>
          <a:p>
            <a:endParaRPr lang="nb-NO"/>
          </a:p>
        </p:txBody>
      </p:sp>
      <p:sp>
        <p:nvSpPr>
          <p:cNvPr id="8" name="Text 6"/>
          <p:cNvSpPr/>
          <p:nvPr/>
        </p:nvSpPr>
        <p:spPr>
          <a:xfrm>
            <a:off x="1143000" y="9548813"/>
            <a:ext cx="7832351"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8A8174"/>
                </a:solidFill>
                <a:latin typeface="Arial" pitchFamily="34" charset="0"/>
                <a:ea typeface="Arial" pitchFamily="34" charset="-122"/>
                <a:cs typeface="Arial" pitchFamily="34" charset="-120"/>
              </a:rPr>
              <a:t>NEGOTIATING INTERDISCIPLINARITY · MAIL · CHAT-3G</a:t>
            </a:r>
            <a:endParaRPr lang="en-US" sz="1800" dirty="0"/>
          </a:p>
        </p:txBody>
      </p:sp>
      <p:sp>
        <p:nvSpPr>
          <p:cNvPr id="9" name="Text 7"/>
          <p:cNvSpPr/>
          <p:nvPr/>
        </p:nvSpPr>
        <p:spPr>
          <a:xfrm>
            <a:off x="16236479" y="9548813"/>
            <a:ext cx="984721"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4A423A"/>
                </a:solidFill>
                <a:latin typeface="Arial" pitchFamily="34" charset="0"/>
                <a:ea typeface="Arial" pitchFamily="34" charset="-122"/>
                <a:cs typeface="Arial" pitchFamily="34" charset="-120"/>
              </a:rPr>
              <a:t>02 / 11</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1143000" y="1007269"/>
            <a:ext cx="95250" cy="95250"/>
          </a:xfrm>
          <a:prstGeom prst="ellipse">
            <a:avLst/>
          </a:prstGeom>
          <a:solidFill>
            <a:srgbClr val="C96442"/>
          </a:solidFill>
          <a:ln/>
        </p:spPr>
        <p:txBody>
          <a:bodyPr/>
          <a:lstStyle/>
          <a:p>
            <a:endParaRPr lang="nb-NO"/>
          </a:p>
        </p:txBody>
      </p:sp>
      <p:sp>
        <p:nvSpPr>
          <p:cNvPr id="3" name="Text 1"/>
          <p:cNvSpPr/>
          <p:nvPr/>
        </p:nvSpPr>
        <p:spPr>
          <a:xfrm>
            <a:off x="1409700" y="914400"/>
            <a:ext cx="418207" cy="31908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1B16"/>
                </a:solidFill>
                <a:latin typeface="Arial" pitchFamily="34" charset="0"/>
                <a:ea typeface="Arial" pitchFamily="34" charset="-122"/>
                <a:cs typeface="Arial" pitchFamily="34" charset="-120"/>
              </a:rPr>
              <a:t>03</a:t>
            </a:r>
            <a:endParaRPr lang="en-US" sz="1800" dirty="0"/>
          </a:p>
        </p:txBody>
      </p:sp>
      <p:sp>
        <p:nvSpPr>
          <p:cNvPr id="4" name="Text 2"/>
          <p:cNvSpPr/>
          <p:nvPr/>
        </p:nvSpPr>
        <p:spPr>
          <a:xfrm>
            <a:off x="1923157" y="914400"/>
            <a:ext cx="3943692"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THE QUESTION WE ASKED</a:t>
            </a:r>
            <a:endParaRPr lang="en-US" sz="1800" dirty="0"/>
          </a:p>
        </p:txBody>
      </p:sp>
      <p:sp>
        <p:nvSpPr>
          <p:cNvPr id="5" name="Text 3"/>
          <p:cNvSpPr/>
          <p:nvPr/>
        </p:nvSpPr>
        <p:spPr>
          <a:xfrm>
            <a:off x="1143000" y="1728788"/>
            <a:ext cx="16482060" cy="1958206"/>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96" dirty="0">
                <a:solidFill>
                  <a:srgbClr val="1F1B16"/>
                </a:solidFill>
                <a:latin typeface="Arial" pitchFamily="34" charset="0"/>
                <a:ea typeface="Arial" pitchFamily="34" charset="-122"/>
                <a:cs typeface="Arial" pitchFamily="34" charset="-120"/>
              </a:rPr>
              <a:t>What happens in the seams between disciplines, between teachers and administration, between intention and delivery?</a:t>
            </a:r>
            <a:endParaRPr lang="en-US" sz="4800" dirty="0"/>
          </a:p>
        </p:txBody>
      </p:sp>
      <p:sp>
        <p:nvSpPr>
          <p:cNvPr id="6" name="Text 4"/>
          <p:cNvSpPr/>
          <p:nvPr/>
        </p:nvSpPr>
        <p:spPr>
          <a:xfrm>
            <a:off x="1143000" y="4501382"/>
            <a:ext cx="7770114" cy="338138"/>
          </a:xfrm>
          <a:prstGeom prst="rect">
            <a:avLst/>
          </a:prstGeom>
          <a:noFill/>
          <a:ln/>
        </p:spPr>
        <p:txBody>
          <a:bodyPr wrap="square" lIns="25400" tIns="25400" rIns="25400" bIns="25400" rtlCol="0" anchor="t">
            <a:normAutofit lnSpcReduction="10000"/>
          </a:bodyPr>
          <a:lstStyle/>
          <a:p>
            <a:pPr marL="0" indent="0" algn="l">
              <a:buNone/>
            </a:pPr>
            <a:r>
              <a:rPr lang="en-US" sz="1950" b="1" kern="0" spc="351" dirty="0">
                <a:solidFill>
                  <a:srgbClr val="C96442"/>
                </a:solidFill>
                <a:latin typeface="Arial" pitchFamily="34" charset="0"/>
                <a:ea typeface="Arial" pitchFamily="34" charset="-122"/>
                <a:cs typeface="Arial" pitchFamily="34" charset="-120"/>
              </a:rPr>
              <a:t>PREMISE</a:t>
            </a:r>
            <a:endParaRPr lang="en-US" sz="1950" dirty="0"/>
          </a:p>
        </p:txBody>
      </p:sp>
      <p:sp>
        <p:nvSpPr>
          <p:cNvPr id="7" name="Text 5"/>
          <p:cNvSpPr/>
          <p:nvPr/>
        </p:nvSpPr>
        <p:spPr>
          <a:xfrm>
            <a:off x="1143000" y="5030019"/>
            <a:ext cx="7770114" cy="1363935"/>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2400" kern="0" spc="-6" dirty="0">
                <a:solidFill>
                  <a:srgbClr val="4A423A"/>
                </a:solidFill>
                <a:latin typeface="Arial" pitchFamily="34" charset="0"/>
                <a:ea typeface="Arial" pitchFamily="34" charset="-122"/>
                <a:cs typeface="Arial" pitchFamily="34" charset="-120"/>
              </a:rPr>
              <a:t>Interdisciplinary work is widely seen as a driver of innovation, but it is also widely reported as difficult to coordinate.</a:t>
            </a:r>
            <a:endParaRPr lang="en-US" sz="2400" dirty="0"/>
          </a:p>
        </p:txBody>
      </p:sp>
      <p:sp>
        <p:nvSpPr>
          <p:cNvPr id="8" name="Text 6"/>
          <p:cNvSpPr/>
          <p:nvPr/>
        </p:nvSpPr>
        <p:spPr>
          <a:xfrm>
            <a:off x="9601200" y="4501382"/>
            <a:ext cx="7770114" cy="338138"/>
          </a:xfrm>
          <a:prstGeom prst="rect">
            <a:avLst/>
          </a:prstGeom>
          <a:noFill/>
          <a:ln/>
        </p:spPr>
        <p:txBody>
          <a:bodyPr wrap="square" lIns="25400" tIns="25400" rIns="25400" bIns="25400" rtlCol="0" anchor="t">
            <a:normAutofit lnSpcReduction="10000"/>
          </a:bodyPr>
          <a:lstStyle/>
          <a:p>
            <a:pPr marL="0" indent="0" algn="l">
              <a:buNone/>
            </a:pPr>
            <a:r>
              <a:rPr lang="en-US" sz="1950" b="1" kern="0" spc="351" dirty="0">
                <a:solidFill>
                  <a:srgbClr val="C96442"/>
                </a:solidFill>
                <a:latin typeface="Arial" pitchFamily="34" charset="0"/>
                <a:ea typeface="Arial" pitchFamily="34" charset="-122"/>
                <a:cs typeface="Arial" pitchFamily="34" charset="-120"/>
              </a:rPr>
              <a:t>REFRAME</a:t>
            </a:r>
            <a:endParaRPr lang="en-US" sz="1950" dirty="0"/>
          </a:p>
        </p:txBody>
      </p:sp>
      <p:sp>
        <p:nvSpPr>
          <p:cNvPr id="9" name="Text 7"/>
          <p:cNvSpPr/>
          <p:nvPr/>
        </p:nvSpPr>
        <p:spPr>
          <a:xfrm>
            <a:off x="9601200" y="5030019"/>
            <a:ext cx="7770114" cy="92675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kern="0" spc="-6" dirty="0">
                <a:solidFill>
                  <a:srgbClr val="4A423A"/>
                </a:solidFill>
                <a:latin typeface="Arial" pitchFamily="34" charset="0"/>
                <a:ea typeface="Arial" pitchFamily="34" charset="-122"/>
                <a:cs typeface="Arial" pitchFamily="34" charset="-120"/>
              </a:rPr>
              <a:t>Treat challenges as </a:t>
            </a:r>
            <a:r>
              <a:rPr lang="en-US" sz="2400" b="1" kern="0" spc="-6" dirty="0">
                <a:solidFill>
                  <a:srgbClr val="4A423A"/>
                </a:solidFill>
                <a:latin typeface="Arial" pitchFamily="34" charset="0"/>
                <a:ea typeface="Arial" pitchFamily="34" charset="-122"/>
                <a:cs typeface="Arial" pitchFamily="34" charset="-120"/>
              </a:rPr>
              <a:t>systemic contradictions </a:t>
            </a:r>
            <a:r>
              <a:rPr lang="en-US" sz="2400" kern="0" spc="-6" dirty="0">
                <a:solidFill>
                  <a:srgbClr val="4A423A"/>
                </a:solidFill>
                <a:latin typeface="Arial" pitchFamily="34" charset="0"/>
                <a:ea typeface="Arial" pitchFamily="34" charset="-122"/>
                <a:cs typeface="Arial" pitchFamily="34" charset="-120"/>
              </a:rPr>
              <a:t>in course design, not individual failings.</a:t>
            </a:r>
            <a:endParaRPr lang="en-US" sz="2400" dirty="0"/>
          </a:p>
        </p:txBody>
      </p:sp>
      <p:sp>
        <p:nvSpPr>
          <p:cNvPr id="10" name="Shape 8"/>
          <p:cNvSpPr/>
          <p:nvPr/>
        </p:nvSpPr>
        <p:spPr>
          <a:xfrm>
            <a:off x="1143000" y="9329738"/>
            <a:ext cx="16002000" cy="9525"/>
          </a:xfrm>
          <a:prstGeom prst="rect">
            <a:avLst/>
          </a:prstGeom>
          <a:solidFill>
            <a:srgbClr val="D9D1BF"/>
          </a:solidFill>
          <a:ln/>
        </p:spPr>
        <p:txBody>
          <a:bodyPr/>
          <a:lstStyle/>
          <a:p>
            <a:endParaRPr lang="nb-NO"/>
          </a:p>
        </p:txBody>
      </p:sp>
      <p:sp>
        <p:nvSpPr>
          <p:cNvPr id="11" name="Text 9"/>
          <p:cNvSpPr/>
          <p:nvPr/>
        </p:nvSpPr>
        <p:spPr>
          <a:xfrm>
            <a:off x="1143000" y="9548813"/>
            <a:ext cx="4883046" cy="319088"/>
          </a:xfrm>
          <a:prstGeom prst="rect">
            <a:avLst/>
          </a:prstGeom>
          <a:noFill/>
          <a:ln/>
        </p:spPr>
        <p:txBody>
          <a:bodyPr wrap="square" lIns="25400" tIns="25400" rIns="25400" bIns="25400" rtlCol="0" anchor="t">
            <a:normAutofit lnSpcReduction="10000"/>
          </a:bodyPr>
          <a:lstStyle/>
          <a:p>
            <a:pPr marL="0" indent="0" algn="l">
              <a:buNone/>
            </a:pPr>
            <a:r>
              <a:rPr lang="en-US" sz="1800" kern="0" spc="252" dirty="0">
                <a:solidFill>
                  <a:srgbClr val="8A8174"/>
                </a:solidFill>
                <a:latin typeface="Arial" pitchFamily="34" charset="0"/>
                <a:ea typeface="Arial" pitchFamily="34" charset="-122"/>
                <a:cs typeface="Arial" pitchFamily="34" charset="-120"/>
              </a:rPr>
              <a:t>SECTION 01 · PROBLEM</a:t>
            </a:r>
            <a:endParaRPr lang="en-US" sz="1800" dirty="0"/>
          </a:p>
        </p:txBody>
      </p:sp>
      <p:sp>
        <p:nvSpPr>
          <p:cNvPr id="12" name="Text 10"/>
          <p:cNvSpPr/>
          <p:nvPr/>
        </p:nvSpPr>
        <p:spPr>
          <a:xfrm>
            <a:off x="16234097" y="9548813"/>
            <a:ext cx="987103"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4A423A"/>
                </a:solidFill>
                <a:latin typeface="Arial" pitchFamily="34" charset="0"/>
                <a:ea typeface="Arial" pitchFamily="34" charset="-122"/>
                <a:cs typeface="Arial" pitchFamily="34" charset="-120"/>
              </a:rPr>
              <a:t>03 / 11</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1143000" y="1007269"/>
            <a:ext cx="95250" cy="95250"/>
          </a:xfrm>
          <a:prstGeom prst="ellipse">
            <a:avLst/>
          </a:prstGeom>
          <a:solidFill>
            <a:srgbClr val="C96442"/>
          </a:solidFill>
          <a:ln/>
        </p:spPr>
        <p:txBody>
          <a:bodyPr/>
          <a:lstStyle/>
          <a:p>
            <a:endParaRPr lang="nb-NO"/>
          </a:p>
        </p:txBody>
      </p:sp>
      <p:sp>
        <p:nvSpPr>
          <p:cNvPr id="3" name="Text 1"/>
          <p:cNvSpPr/>
          <p:nvPr/>
        </p:nvSpPr>
        <p:spPr>
          <a:xfrm>
            <a:off x="1409700" y="914400"/>
            <a:ext cx="425053" cy="31908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1B16"/>
                </a:solidFill>
                <a:latin typeface="Arial" pitchFamily="34" charset="0"/>
                <a:ea typeface="Arial" pitchFamily="34" charset="-122"/>
                <a:cs typeface="Arial" pitchFamily="34" charset="-120"/>
              </a:rPr>
              <a:t>04</a:t>
            </a:r>
            <a:endParaRPr lang="en-US" sz="1800" dirty="0"/>
          </a:p>
        </p:txBody>
      </p:sp>
      <p:sp>
        <p:nvSpPr>
          <p:cNvPr id="4" name="Text 2"/>
          <p:cNvSpPr/>
          <p:nvPr/>
        </p:nvSpPr>
        <p:spPr>
          <a:xfrm>
            <a:off x="1930003" y="914400"/>
            <a:ext cx="3325998" cy="319088"/>
          </a:xfrm>
          <a:prstGeom prst="rect">
            <a:avLst/>
          </a:prstGeom>
          <a:noFill/>
          <a:ln/>
        </p:spPr>
        <p:txBody>
          <a:bodyPr wrap="square" lIns="25400" tIns="25400" rIns="25400" bIns="25400" rtlCol="0" anchor="t">
            <a:normAutofit lnSpcReduction="10000"/>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THE LENS; CHAT-3G</a:t>
            </a:r>
            <a:endParaRPr lang="en-US" sz="1800" dirty="0"/>
          </a:p>
        </p:txBody>
      </p:sp>
      <p:sp>
        <p:nvSpPr>
          <p:cNvPr id="5" name="Text 3"/>
          <p:cNvSpPr/>
          <p:nvPr/>
        </p:nvSpPr>
        <p:spPr>
          <a:xfrm>
            <a:off x="1143000" y="2044973"/>
            <a:ext cx="7287931" cy="1958206"/>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96" dirty="0">
                <a:solidFill>
                  <a:srgbClr val="1F1B16"/>
                </a:solidFill>
                <a:latin typeface="Arial" pitchFamily="34" charset="0"/>
                <a:ea typeface="Arial" pitchFamily="34" charset="-122"/>
                <a:cs typeface="Arial" pitchFamily="34" charset="-120"/>
              </a:rPr>
              <a:t>Cultural-Historical Activity Theory, third generation.</a:t>
            </a:r>
            <a:endParaRPr lang="en-US" sz="4800" dirty="0"/>
          </a:p>
        </p:txBody>
      </p:sp>
      <p:sp>
        <p:nvSpPr>
          <p:cNvPr id="6" name="Text 4"/>
          <p:cNvSpPr/>
          <p:nvPr/>
        </p:nvSpPr>
        <p:spPr>
          <a:xfrm>
            <a:off x="1143000" y="4623792"/>
            <a:ext cx="7287931" cy="211455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2250" kern="0" spc="-6" dirty="0">
                <a:solidFill>
                  <a:srgbClr val="4A423A"/>
                </a:solidFill>
                <a:latin typeface="Arial" pitchFamily="34" charset="0"/>
                <a:ea typeface="Arial" pitchFamily="34" charset="-122"/>
                <a:cs typeface="Arial" pitchFamily="34" charset="-120"/>
              </a:rPr>
              <a:t>Engeström's framework treats any human activity as </a:t>
            </a:r>
            <a:r>
              <a:rPr lang="en-US" sz="2250" b="1" kern="0" spc="-6" dirty="0">
                <a:solidFill>
                  <a:srgbClr val="1F1B16"/>
                </a:solidFill>
                <a:latin typeface="Arial" pitchFamily="34" charset="0"/>
                <a:ea typeface="Arial" pitchFamily="34" charset="-122"/>
                <a:cs typeface="Arial" pitchFamily="34" charset="-120"/>
              </a:rPr>
              <a:t>seven interconnected components </a:t>
            </a:r>
            <a:r>
              <a:rPr lang="en-US" sz="2250" kern="0" spc="-6" dirty="0">
                <a:solidFill>
                  <a:srgbClr val="4A423A"/>
                </a:solidFill>
                <a:latin typeface="Arial" pitchFamily="34" charset="0"/>
                <a:ea typeface="Arial" pitchFamily="34" charset="-122"/>
                <a:cs typeface="Arial" pitchFamily="34" charset="-120"/>
              </a:rPr>
              <a:t>. The useful part isn't the components themselves, it's that the framework forces you to look at the </a:t>
            </a:r>
            <a:r>
              <a:rPr lang="en-US" sz="2250" i="1" kern="0" spc="-6" dirty="0">
                <a:solidFill>
                  <a:srgbClr val="4A423A"/>
                </a:solidFill>
                <a:latin typeface="Arial" pitchFamily="34" charset="0"/>
                <a:ea typeface="Arial" pitchFamily="34" charset="-122"/>
                <a:cs typeface="Arial" pitchFamily="34" charset="-120"/>
              </a:rPr>
              <a:t>spaces between </a:t>
            </a:r>
            <a:r>
              <a:rPr lang="en-US" sz="2250" kern="0" spc="-6" dirty="0">
                <a:solidFill>
                  <a:srgbClr val="4A423A"/>
                </a:solidFill>
                <a:latin typeface="Arial" pitchFamily="34" charset="0"/>
                <a:ea typeface="Arial" pitchFamily="34" charset="-122"/>
                <a:cs typeface="Arial" pitchFamily="34" charset="-120"/>
              </a:rPr>
              <a:t>them. That's where friction lives.</a:t>
            </a:r>
            <a:endParaRPr lang="en-US" sz="2250" dirty="0"/>
          </a:p>
        </p:txBody>
      </p:sp>
      <p:sp>
        <p:nvSpPr>
          <p:cNvPr id="7" name="Text 5"/>
          <p:cNvSpPr/>
          <p:nvPr/>
        </p:nvSpPr>
        <p:spPr>
          <a:xfrm>
            <a:off x="1143000" y="6928842"/>
            <a:ext cx="7287931" cy="756196"/>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kern="0" spc="-6" dirty="0">
                <a:solidFill>
                  <a:srgbClr val="8A8174"/>
                </a:solidFill>
                <a:latin typeface="Arial" pitchFamily="34" charset="0"/>
                <a:ea typeface="Arial" pitchFamily="34" charset="-122"/>
                <a:cs typeface="Arial" pitchFamily="34" charset="-120"/>
              </a:rPr>
              <a:t>Method: 14 faculty interviews, transcribed and coded in NVivo 14 against the seven components.</a:t>
            </a:r>
            <a:endParaRPr lang="en-US" sz="1950" dirty="0"/>
          </a:p>
        </p:txBody>
      </p:sp>
      <p:sp>
        <p:nvSpPr>
          <p:cNvPr id="8" name="Shape 6"/>
          <p:cNvSpPr/>
          <p:nvPr/>
        </p:nvSpPr>
        <p:spPr>
          <a:xfrm>
            <a:off x="11803596" y="4423767"/>
            <a:ext cx="2899395" cy="681038"/>
          </a:xfrm>
          <a:prstGeom prst="roundRect">
            <a:avLst>
              <a:gd name="adj" fmla="val 50000"/>
            </a:avLst>
          </a:prstGeom>
          <a:solidFill>
            <a:srgbClr val="C96442"/>
          </a:solidFill>
          <a:ln w="9525">
            <a:solidFill>
              <a:srgbClr val="C96442"/>
            </a:solidFill>
            <a:prstDash val="solid"/>
          </a:ln>
        </p:spPr>
        <p:txBody>
          <a:bodyPr/>
          <a:lstStyle/>
          <a:p>
            <a:endParaRPr lang="nb-NO"/>
          </a:p>
        </p:txBody>
      </p:sp>
      <p:sp>
        <p:nvSpPr>
          <p:cNvPr id="9" name="Text 7"/>
          <p:cNvSpPr/>
          <p:nvPr/>
        </p:nvSpPr>
        <p:spPr>
          <a:xfrm>
            <a:off x="12098871" y="4623792"/>
            <a:ext cx="2395827" cy="31908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FFFFFF"/>
                </a:solidFill>
                <a:latin typeface="Arial" pitchFamily="34" charset="0"/>
                <a:ea typeface="Arial" pitchFamily="34" charset="-122"/>
                <a:cs typeface="Arial" pitchFamily="34" charset="-120"/>
              </a:rPr>
              <a:t>ACTIVITY SYSTEM</a:t>
            </a:r>
            <a:endParaRPr lang="en-US" sz="1800" dirty="0"/>
          </a:p>
        </p:txBody>
      </p:sp>
      <p:sp>
        <p:nvSpPr>
          <p:cNvPr id="10" name="Shape 8"/>
          <p:cNvSpPr/>
          <p:nvPr/>
        </p:nvSpPr>
        <p:spPr>
          <a:xfrm>
            <a:off x="12269539" y="1790626"/>
            <a:ext cx="1967508" cy="6048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11" name="Text 9"/>
          <p:cNvSpPr/>
          <p:nvPr/>
        </p:nvSpPr>
        <p:spPr>
          <a:xfrm>
            <a:off x="12488614" y="1952551"/>
            <a:ext cx="1605558" cy="31908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C96442"/>
                </a:solidFill>
                <a:latin typeface="Arial" pitchFamily="34" charset="0"/>
                <a:ea typeface="Arial" pitchFamily="34" charset="-122"/>
                <a:cs typeface="Arial" pitchFamily="34" charset="-120"/>
              </a:rPr>
              <a:t>01 </a:t>
            </a:r>
            <a:r>
              <a:rPr lang="en-US" sz="1800" b="1" kern="0" spc="108" dirty="0">
                <a:solidFill>
                  <a:srgbClr val="1F1B16"/>
                </a:solidFill>
                <a:highlight>
                  <a:srgbClr val="EAE3D6"/>
                </a:highlight>
                <a:latin typeface="Arial" pitchFamily="34" charset="0"/>
                <a:ea typeface="Arial" pitchFamily="34" charset="-122"/>
                <a:cs typeface="Arial" pitchFamily="34" charset="-120"/>
              </a:rPr>
              <a:t>SUBJECT</a:t>
            </a:r>
            <a:endParaRPr lang="en-US" sz="1800" dirty="0"/>
          </a:p>
        </p:txBody>
      </p:sp>
      <p:sp>
        <p:nvSpPr>
          <p:cNvPr id="12" name="Shape 10"/>
          <p:cNvSpPr/>
          <p:nvPr/>
        </p:nvSpPr>
        <p:spPr>
          <a:xfrm>
            <a:off x="15593392" y="2761952"/>
            <a:ext cx="1857821" cy="6048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13" name="Text 11"/>
          <p:cNvSpPr/>
          <p:nvPr/>
        </p:nvSpPr>
        <p:spPr>
          <a:xfrm>
            <a:off x="15812467" y="2923877"/>
            <a:ext cx="1495871" cy="31908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C96442"/>
                </a:solidFill>
                <a:latin typeface="Arial" pitchFamily="34" charset="0"/>
                <a:ea typeface="Arial" pitchFamily="34" charset="-122"/>
                <a:cs typeface="Arial" pitchFamily="34" charset="-120"/>
              </a:rPr>
              <a:t>02 </a:t>
            </a:r>
            <a:r>
              <a:rPr lang="en-US" sz="1800" b="1" kern="0" spc="108" dirty="0">
                <a:solidFill>
                  <a:srgbClr val="1F1B16"/>
                </a:solidFill>
                <a:highlight>
                  <a:srgbClr val="EAE3D6"/>
                </a:highlight>
                <a:latin typeface="Arial" pitchFamily="34" charset="0"/>
                <a:ea typeface="Arial" pitchFamily="34" charset="-122"/>
                <a:cs typeface="Arial" pitchFamily="34" charset="-120"/>
              </a:rPr>
              <a:t>OBJECT</a:t>
            </a:r>
            <a:endParaRPr lang="en-US" sz="1800" dirty="0"/>
          </a:p>
        </p:txBody>
      </p:sp>
      <p:sp>
        <p:nvSpPr>
          <p:cNvPr id="14" name="Shape 12"/>
          <p:cNvSpPr/>
          <p:nvPr/>
        </p:nvSpPr>
        <p:spPr>
          <a:xfrm>
            <a:off x="16001219" y="5797451"/>
            <a:ext cx="1664866" cy="6048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15" name="Text 13"/>
          <p:cNvSpPr/>
          <p:nvPr/>
        </p:nvSpPr>
        <p:spPr>
          <a:xfrm>
            <a:off x="16220294" y="5959376"/>
            <a:ext cx="1302916" cy="31908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C96442"/>
                </a:solidFill>
                <a:latin typeface="Arial" pitchFamily="34" charset="0"/>
                <a:ea typeface="Arial" pitchFamily="34" charset="-122"/>
                <a:cs typeface="Arial" pitchFamily="34" charset="-120"/>
              </a:rPr>
              <a:t>03 </a:t>
            </a:r>
            <a:r>
              <a:rPr lang="en-US" sz="1800" b="1" kern="0" spc="108" dirty="0">
                <a:solidFill>
                  <a:srgbClr val="1F1B16"/>
                </a:solidFill>
                <a:highlight>
                  <a:srgbClr val="EAE3D6"/>
                </a:highlight>
                <a:latin typeface="Arial" pitchFamily="34" charset="0"/>
                <a:ea typeface="Arial" pitchFamily="34" charset="-122"/>
                <a:cs typeface="Arial" pitchFamily="34" charset="-120"/>
              </a:rPr>
              <a:t>RULES</a:t>
            </a:r>
            <a:endParaRPr lang="en-US" sz="1800" dirty="0"/>
          </a:p>
        </p:txBody>
      </p:sp>
      <p:sp>
        <p:nvSpPr>
          <p:cNvPr id="16" name="Shape 14"/>
          <p:cNvSpPr/>
          <p:nvPr/>
        </p:nvSpPr>
        <p:spPr>
          <a:xfrm>
            <a:off x="13954311" y="7254478"/>
            <a:ext cx="1711300" cy="6048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17" name="Text 15"/>
          <p:cNvSpPr/>
          <p:nvPr/>
        </p:nvSpPr>
        <p:spPr>
          <a:xfrm>
            <a:off x="14173386" y="7416403"/>
            <a:ext cx="1349350" cy="31908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C96442"/>
                </a:solidFill>
                <a:latin typeface="Arial" pitchFamily="34" charset="0"/>
                <a:ea typeface="Arial" pitchFamily="34" charset="-122"/>
                <a:cs typeface="Arial" pitchFamily="34" charset="-120"/>
              </a:rPr>
              <a:t>04 </a:t>
            </a:r>
            <a:r>
              <a:rPr lang="en-US" sz="1800" b="1" kern="0" spc="108" dirty="0">
                <a:solidFill>
                  <a:srgbClr val="1F1B16"/>
                </a:solidFill>
                <a:highlight>
                  <a:srgbClr val="EAE3D6"/>
                </a:highlight>
                <a:latin typeface="Arial" pitchFamily="34" charset="0"/>
                <a:ea typeface="Arial" pitchFamily="34" charset="-122"/>
                <a:cs typeface="Arial" pitchFamily="34" charset="-120"/>
              </a:rPr>
              <a:t>TOOLS</a:t>
            </a:r>
            <a:endParaRPr lang="en-US" sz="1800" dirty="0"/>
          </a:p>
        </p:txBody>
      </p:sp>
      <p:sp>
        <p:nvSpPr>
          <p:cNvPr id="18" name="Shape 16"/>
          <p:cNvSpPr/>
          <p:nvPr/>
        </p:nvSpPr>
        <p:spPr>
          <a:xfrm>
            <a:off x="10462431" y="7254478"/>
            <a:ext cx="2468389" cy="6048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19" name="Text 17"/>
          <p:cNvSpPr/>
          <p:nvPr/>
        </p:nvSpPr>
        <p:spPr>
          <a:xfrm>
            <a:off x="10681506" y="7416403"/>
            <a:ext cx="2106439" cy="31908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C96442"/>
                </a:solidFill>
                <a:latin typeface="Arial" pitchFamily="34" charset="0"/>
                <a:ea typeface="Arial" pitchFamily="34" charset="-122"/>
                <a:cs typeface="Arial" pitchFamily="34" charset="-120"/>
              </a:rPr>
              <a:t>05 </a:t>
            </a:r>
            <a:r>
              <a:rPr lang="en-US" sz="1800" b="1" kern="0" spc="108" dirty="0">
                <a:solidFill>
                  <a:srgbClr val="1F1B16"/>
                </a:solidFill>
                <a:highlight>
                  <a:srgbClr val="EAE3D6"/>
                </a:highlight>
                <a:latin typeface="Arial" pitchFamily="34" charset="0"/>
                <a:ea typeface="Arial" pitchFamily="34" charset="-122"/>
                <a:cs typeface="Arial" pitchFamily="34" charset="-120"/>
              </a:rPr>
              <a:t>COMMUNITY</a:t>
            </a:r>
            <a:endParaRPr lang="en-US" sz="1800" dirty="0"/>
          </a:p>
        </p:txBody>
      </p:sp>
      <p:sp>
        <p:nvSpPr>
          <p:cNvPr id="20" name="Shape 18"/>
          <p:cNvSpPr/>
          <p:nvPr/>
        </p:nvSpPr>
        <p:spPr>
          <a:xfrm>
            <a:off x="8976978" y="5797451"/>
            <a:ext cx="1703263" cy="6048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21" name="Text 19"/>
          <p:cNvSpPr/>
          <p:nvPr/>
        </p:nvSpPr>
        <p:spPr>
          <a:xfrm>
            <a:off x="9196053" y="5959376"/>
            <a:ext cx="1341313" cy="31908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C96442"/>
                </a:solidFill>
                <a:latin typeface="Arial" pitchFamily="34" charset="0"/>
                <a:ea typeface="Arial" pitchFamily="34" charset="-122"/>
                <a:cs typeface="Arial" pitchFamily="34" charset="-120"/>
              </a:rPr>
              <a:t>06 </a:t>
            </a:r>
            <a:r>
              <a:rPr lang="en-US" sz="1800" b="1" kern="0" spc="108" dirty="0">
                <a:solidFill>
                  <a:srgbClr val="1F1B16"/>
                </a:solidFill>
                <a:highlight>
                  <a:srgbClr val="EAE3D6"/>
                </a:highlight>
                <a:latin typeface="Arial" pitchFamily="34" charset="0"/>
                <a:ea typeface="Arial" pitchFamily="34" charset="-122"/>
                <a:cs typeface="Arial" pitchFamily="34" charset="-120"/>
              </a:rPr>
              <a:t>LABOR</a:t>
            </a:r>
            <a:endParaRPr lang="en-US" sz="1800" dirty="0"/>
          </a:p>
        </p:txBody>
      </p:sp>
      <p:sp>
        <p:nvSpPr>
          <p:cNvPr id="22" name="Shape 20"/>
          <p:cNvSpPr/>
          <p:nvPr/>
        </p:nvSpPr>
        <p:spPr>
          <a:xfrm>
            <a:off x="8842846" y="2761952"/>
            <a:ext cx="2282875" cy="6048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23" name="Text 21"/>
          <p:cNvSpPr/>
          <p:nvPr/>
        </p:nvSpPr>
        <p:spPr>
          <a:xfrm>
            <a:off x="9061921" y="2923877"/>
            <a:ext cx="1920925" cy="319088"/>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C96442"/>
                </a:solidFill>
                <a:latin typeface="Arial" pitchFamily="34" charset="0"/>
                <a:ea typeface="Arial" pitchFamily="34" charset="-122"/>
                <a:cs typeface="Arial" pitchFamily="34" charset="-120"/>
              </a:rPr>
              <a:t>07 </a:t>
            </a:r>
            <a:r>
              <a:rPr lang="en-US" sz="1800" b="1" kern="0" spc="108" dirty="0">
                <a:solidFill>
                  <a:srgbClr val="1F1B16"/>
                </a:solidFill>
                <a:highlight>
                  <a:srgbClr val="EAE3D6"/>
                </a:highlight>
                <a:latin typeface="Arial" pitchFamily="34" charset="0"/>
                <a:ea typeface="Arial" pitchFamily="34" charset="-122"/>
                <a:cs typeface="Arial" pitchFamily="34" charset="-120"/>
              </a:rPr>
              <a:t>OUTCOMES</a:t>
            </a:r>
            <a:endParaRPr lang="en-US" sz="1800" dirty="0"/>
          </a:p>
        </p:txBody>
      </p:sp>
      <p:sp>
        <p:nvSpPr>
          <p:cNvPr id="24" name="Shape 22"/>
          <p:cNvSpPr/>
          <p:nvPr/>
        </p:nvSpPr>
        <p:spPr>
          <a:xfrm>
            <a:off x="1143000" y="9329738"/>
            <a:ext cx="16002000" cy="9525"/>
          </a:xfrm>
          <a:prstGeom prst="rect">
            <a:avLst/>
          </a:prstGeom>
          <a:solidFill>
            <a:srgbClr val="D9D1BF"/>
          </a:solidFill>
          <a:ln/>
        </p:spPr>
        <p:txBody>
          <a:bodyPr/>
          <a:lstStyle/>
          <a:p>
            <a:endParaRPr lang="nb-NO"/>
          </a:p>
        </p:txBody>
      </p:sp>
      <p:sp>
        <p:nvSpPr>
          <p:cNvPr id="25" name="Text 23"/>
          <p:cNvSpPr/>
          <p:nvPr/>
        </p:nvSpPr>
        <p:spPr>
          <a:xfrm>
            <a:off x="1143000" y="9548813"/>
            <a:ext cx="4523282" cy="319088"/>
          </a:xfrm>
          <a:prstGeom prst="rect">
            <a:avLst/>
          </a:prstGeom>
          <a:noFill/>
          <a:ln/>
        </p:spPr>
        <p:txBody>
          <a:bodyPr wrap="square" lIns="25400" tIns="25400" rIns="25400" bIns="25400" rtlCol="0" anchor="t">
            <a:normAutofit lnSpcReduction="10000"/>
          </a:bodyPr>
          <a:lstStyle/>
          <a:p>
            <a:pPr marL="0" indent="0" algn="l">
              <a:buNone/>
            </a:pPr>
            <a:r>
              <a:rPr lang="en-US" sz="1800" kern="0" spc="252" dirty="0">
                <a:solidFill>
                  <a:srgbClr val="8A8174"/>
                </a:solidFill>
                <a:latin typeface="Arial" pitchFamily="34" charset="0"/>
                <a:ea typeface="Arial" pitchFamily="34" charset="-122"/>
                <a:cs typeface="Arial" pitchFamily="34" charset="-120"/>
              </a:rPr>
              <a:t>SECTION 01 · PROBLEM</a:t>
            </a:r>
            <a:endParaRPr lang="en-US" sz="1800" dirty="0"/>
          </a:p>
        </p:txBody>
      </p:sp>
      <p:sp>
        <p:nvSpPr>
          <p:cNvPr id="26" name="Text 24"/>
          <p:cNvSpPr/>
          <p:nvPr/>
        </p:nvSpPr>
        <p:spPr>
          <a:xfrm>
            <a:off x="16227400" y="9548813"/>
            <a:ext cx="993800"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4A423A"/>
                </a:solidFill>
                <a:latin typeface="Arial" pitchFamily="34" charset="0"/>
                <a:ea typeface="Arial" pitchFamily="34" charset="-122"/>
                <a:cs typeface="Arial" pitchFamily="34" charset="-120"/>
              </a:rPr>
              <a:t>04 / 11</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1143000" y="1007269"/>
            <a:ext cx="95250" cy="95250"/>
          </a:xfrm>
          <a:prstGeom prst="ellipse">
            <a:avLst/>
          </a:prstGeom>
          <a:solidFill>
            <a:srgbClr val="C96442"/>
          </a:solidFill>
          <a:ln/>
        </p:spPr>
        <p:txBody>
          <a:bodyPr/>
          <a:lstStyle/>
          <a:p>
            <a:endParaRPr lang="nb-NO"/>
          </a:p>
        </p:txBody>
      </p:sp>
      <p:sp>
        <p:nvSpPr>
          <p:cNvPr id="3" name="Text 1"/>
          <p:cNvSpPr/>
          <p:nvPr/>
        </p:nvSpPr>
        <p:spPr>
          <a:xfrm>
            <a:off x="1409700" y="914400"/>
            <a:ext cx="412775" cy="31908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1B16"/>
                </a:solidFill>
                <a:latin typeface="Arial" pitchFamily="34" charset="0"/>
                <a:ea typeface="Arial" pitchFamily="34" charset="-122"/>
                <a:cs typeface="Arial" pitchFamily="34" charset="-120"/>
              </a:rPr>
              <a:t>05</a:t>
            </a:r>
            <a:endParaRPr lang="en-US" sz="1800" dirty="0"/>
          </a:p>
        </p:txBody>
      </p:sp>
      <p:sp>
        <p:nvSpPr>
          <p:cNvPr id="4" name="Text 2"/>
          <p:cNvSpPr/>
          <p:nvPr/>
        </p:nvSpPr>
        <p:spPr>
          <a:xfrm>
            <a:off x="1917725" y="914400"/>
            <a:ext cx="5897794"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FINDINGS — WHO, AND TOWARD WHAT</a:t>
            </a:r>
            <a:endParaRPr lang="en-US" sz="1800" dirty="0"/>
          </a:p>
        </p:txBody>
      </p:sp>
      <p:sp>
        <p:nvSpPr>
          <p:cNvPr id="5" name="Text 3"/>
          <p:cNvSpPr/>
          <p:nvPr/>
        </p:nvSpPr>
        <p:spPr>
          <a:xfrm>
            <a:off x="1143000" y="1462088"/>
            <a:ext cx="16482060" cy="678135"/>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96" dirty="0">
                <a:solidFill>
                  <a:srgbClr val="1F1B16"/>
                </a:solidFill>
                <a:latin typeface="Arial" pitchFamily="34" charset="0"/>
                <a:ea typeface="Arial" pitchFamily="34" charset="-122"/>
                <a:cs typeface="Arial" pitchFamily="34" charset="-120"/>
              </a:rPr>
              <a:t>Roles evolved reactively. The goal kept moving.</a:t>
            </a:r>
            <a:endParaRPr lang="en-US" sz="4800" dirty="0"/>
          </a:p>
        </p:txBody>
      </p:sp>
      <p:sp>
        <p:nvSpPr>
          <p:cNvPr id="6" name="Shape 4"/>
          <p:cNvSpPr/>
          <p:nvPr/>
        </p:nvSpPr>
        <p:spPr>
          <a:xfrm>
            <a:off x="1143000" y="2330723"/>
            <a:ext cx="2013496" cy="4905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7" name="Text 5"/>
          <p:cNvSpPr/>
          <p:nvPr/>
        </p:nvSpPr>
        <p:spPr>
          <a:xfrm>
            <a:off x="1362074" y="2435498"/>
            <a:ext cx="1965871" cy="319088"/>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1F1B16"/>
                </a:solidFill>
                <a:latin typeface="Arial" pitchFamily="34" charset="0"/>
                <a:ea typeface="Arial" pitchFamily="34" charset="-122"/>
                <a:cs typeface="Arial" pitchFamily="34" charset="-120"/>
              </a:rPr>
              <a:t>① SUBJECT</a:t>
            </a:r>
            <a:endParaRPr lang="en-US" sz="1800" dirty="0"/>
          </a:p>
        </p:txBody>
      </p:sp>
      <p:sp>
        <p:nvSpPr>
          <p:cNvPr id="8" name="Shape 6"/>
          <p:cNvSpPr/>
          <p:nvPr/>
        </p:nvSpPr>
        <p:spPr>
          <a:xfrm>
            <a:off x="3251746" y="2330723"/>
            <a:ext cx="1844501" cy="4905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9" name="Text 7"/>
          <p:cNvSpPr/>
          <p:nvPr/>
        </p:nvSpPr>
        <p:spPr>
          <a:xfrm>
            <a:off x="3470821" y="2435497"/>
            <a:ext cx="1965871" cy="38576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1F1B16"/>
                </a:solidFill>
                <a:latin typeface="Arial" pitchFamily="34" charset="0"/>
                <a:ea typeface="Arial" pitchFamily="34" charset="-122"/>
                <a:cs typeface="Arial" pitchFamily="34" charset="-120"/>
              </a:rPr>
              <a:t>② OBJECT</a:t>
            </a:r>
            <a:endParaRPr lang="en-US" sz="1800" dirty="0"/>
          </a:p>
        </p:txBody>
      </p:sp>
      <p:sp>
        <p:nvSpPr>
          <p:cNvPr id="10" name="Text 8"/>
          <p:cNvSpPr/>
          <p:nvPr/>
        </p:nvSpPr>
        <p:spPr>
          <a:xfrm>
            <a:off x="1143000" y="3316560"/>
            <a:ext cx="7848600" cy="319088"/>
          </a:xfrm>
          <a:prstGeom prst="rect">
            <a:avLst/>
          </a:prstGeom>
          <a:noFill/>
          <a:ln/>
        </p:spPr>
        <p:txBody>
          <a:bodyPr wrap="square" lIns="25400" tIns="25400" rIns="25400" bIns="25400" rtlCol="0" anchor="t">
            <a:normAutofit/>
          </a:bodyPr>
          <a:lstStyle/>
          <a:p>
            <a:pPr marL="0" indent="0" algn="l">
              <a:buNone/>
            </a:pPr>
            <a:r>
              <a:rPr lang="en-US" sz="1800" b="1" kern="0" spc="324" dirty="0">
                <a:solidFill>
                  <a:srgbClr val="C96442"/>
                </a:solidFill>
                <a:latin typeface="Arial" pitchFamily="34" charset="0"/>
                <a:ea typeface="Arial" pitchFamily="34" charset="-122"/>
                <a:cs typeface="Arial" pitchFamily="34" charset="-120"/>
              </a:rPr>
              <a:t>SUBJECT — THE FACULTY</a:t>
            </a:r>
            <a:endParaRPr lang="en-US" sz="1800" dirty="0"/>
          </a:p>
        </p:txBody>
      </p:sp>
      <p:sp>
        <p:nvSpPr>
          <p:cNvPr id="11" name="Text 9"/>
          <p:cNvSpPr/>
          <p:nvPr/>
        </p:nvSpPr>
        <p:spPr>
          <a:xfrm>
            <a:off x="1143000" y="3930923"/>
            <a:ext cx="7848600" cy="1421085"/>
          </a:xfrm>
          <a:prstGeom prst="rect">
            <a:avLst/>
          </a:prstGeom>
          <a:noFill/>
          <a:ln/>
        </p:spPr>
        <p:txBody>
          <a:bodyPr wrap="square" lIns="25400" tIns="25400" rIns="25400" bIns="25400" rtlCol="0" anchor="t">
            <a:normAutofit fontScale="92500"/>
          </a:bodyPr>
          <a:lstStyle/>
          <a:p>
            <a:pPr marL="0" indent="0" algn="l">
              <a:lnSpc>
                <a:spcPct val="110000"/>
              </a:lnSpc>
              <a:buNone/>
            </a:pPr>
            <a:r>
              <a:rPr lang="en-US" sz="3300" b="1" kern="0" spc="-49" dirty="0">
                <a:solidFill>
                  <a:srgbClr val="1F1B16"/>
                </a:solidFill>
                <a:latin typeface="Arial" pitchFamily="34" charset="0"/>
                <a:ea typeface="Arial" pitchFamily="34" charset="-122"/>
                <a:cs typeface="Arial" pitchFamily="34" charset="-120"/>
              </a:rPr>
              <a:t>Identity in motion: mentors, late entrants, and "protectors of the framework."</a:t>
            </a:r>
            <a:endParaRPr lang="en-US" sz="3300" dirty="0"/>
          </a:p>
        </p:txBody>
      </p:sp>
      <p:sp>
        <p:nvSpPr>
          <p:cNvPr id="12" name="Text 10"/>
          <p:cNvSpPr/>
          <p:nvPr/>
        </p:nvSpPr>
        <p:spPr>
          <a:xfrm>
            <a:off x="1143000" y="5561558"/>
            <a:ext cx="7848600" cy="756196"/>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kern="0" spc="-6" dirty="0">
                <a:solidFill>
                  <a:srgbClr val="4A423A"/>
                </a:solidFill>
                <a:latin typeface="Arial" pitchFamily="34" charset="0"/>
                <a:ea typeface="Arial" pitchFamily="34" charset="-122"/>
                <a:cs typeface="Arial" pitchFamily="34" charset="-120"/>
              </a:rPr>
              <a:t>People joined late. Roles shifted mid-course. Some described themselves as guarding a structure they hadn't built.</a:t>
            </a:r>
            <a:endParaRPr lang="en-US" sz="1950" dirty="0"/>
          </a:p>
        </p:txBody>
      </p:sp>
      <p:sp>
        <p:nvSpPr>
          <p:cNvPr id="13" name="Shape 11"/>
          <p:cNvSpPr/>
          <p:nvPr/>
        </p:nvSpPr>
        <p:spPr>
          <a:xfrm>
            <a:off x="1143000" y="6508254"/>
            <a:ext cx="19050" cy="1155278"/>
          </a:xfrm>
          <a:prstGeom prst="rect">
            <a:avLst/>
          </a:prstGeom>
          <a:solidFill>
            <a:srgbClr val="C96442"/>
          </a:solidFill>
          <a:ln/>
        </p:spPr>
        <p:txBody>
          <a:bodyPr/>
          <a:lstStyle/>
          <a:p>
            <a:endParaRPr lang="nb-NO"/>
          </a:p>
        </p:txBody>
      </p:sp>
      <p:sp>
        <p:nvSpPr>
          <p:cNvPr id="14" name="Text 12"/>
          <p:cNvSpPr/>
          <p:nvPr/>
        </p:nvSpPr>
        <p:spPr>
          <a:xfrm>
            <a:off x="1371600" y="6560641"/>
            <a:ext cx="7084358" cy="644798"/>
          </a:xfrm>
          <a:prstGeom prst="rect">
            <a:avLst/>
          </a:prstGeom>
          <a:noFill/>
          <a:ln/>
        </p:spPr>
        <p:txBody>
          <a:bodyPr wrap="square" lIns="0" tIns="0" rIns="0" bIns="0" rtlCol="0" anchor="t">
            <a:normAutofit fontScale="85000" lnSpcReduction="20000"/>
          </a:bodyPr>
          <a:lstStyle/>
          <a:p>
            <a:pPr marL="0" indent="0" algn="l">
              <a:lnSpc>
                <a:spcPct val="145000"/>
              </a:lnSpc>
              <a:buNone/>
            </a:pPr>
            <a:r>
              <a:rPr lang="en-US" sz="1950" i="1" kern="0" spc="-6" dirty="0">
                <a:solidFill>
                  <a:srgbClr val="4A423A"/>
                </a:solidFill>
                <a:latin typeface="Georgia" pitchFamily="34" charset="0"/>
                <a:ea typeface="Georgia" pitchFamily="34" charset="-122"/>
                <a:cs typeface="Georgia" pitchFamily="34" charset="-120"/>
              </a:rPr>
              <a:t>"I think my role has evolved into something that I gotta try and protect the framework we have established."</a:t>
            </a:r>
            <a:endParaRPr lang="en-US" sz="1950" dirty="0"/>
          </a:p>
        </p:txBody>
      </p:sp>
      <p:sp>
        <p:nvSpPr>
          <p:cNvPr id="15" name="Text 13"/>
          <p:cNvSpPr/>
          <p:nvPr/>
        </p:nvSpPr>
        <p:spPr>
          <a:xfrm>
            <a:off x="1371600" y="7359700"/>
            <a:ext cx="7613142" cy="34193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kern="0" spc="231" dirty="0">
                <a:solidFill>
                  <a:srgbClr val="8A8174"/>
                </a:solidFill>
                <a:latin typeface="Arial" pitchFamily="34" charset="0"/>
                <a:ea typeface="Arial" pitchFamily="34" charset="-122"/>
                <a:cs typeface="Arial" pitchFamily="34" charset="-120"/>
              </a:rPr>
              <a:t>— FACULTY PARTICIPANT</a:t>
            </a:r>
            <a:endParaRPr lang="en-US" sz="1650" dirty="0"/>
          </a:p>
        </p:txBody>
      </p:sp>
      <p:sp>
        <p:nvSpPr>
          <p:cNvPr id="16" name="Text 14"/>
          <p:cNvSpPr/>
          <p:nvPr/>
        </p:nvSpPr>
        <p:spPr>
          <a:xfrm>
            <a:off x="9525000" y="3316560"/>
            <a:ext cx="7848600" cy="319088"/>
          </a:xfrm>
          <a:prstGeom prst="rect">
            <a:avLst/>
          </a:prstGeom>
          <a:noFill/>
          <a:ln/>
        </p:spPr>
        <p:txBody>
          <a:bodyPr wrap="square" lIns="25400" tIns="25400" rIns="25400" bIns="25400" rtlCol="0" anchor="t">
            <a:normAutofit/>
          </a:bodyPr>
          <a:lstStyle/>
          <a:p>
            <a:pPr marL="0" indent="0" algn="l">
              <a:buNone/>
            </a:pPr>
            <a:r>
              <a:rPr lang="en-US" sz="1800" b="1" kern="0" spc="324" dirty="0">
                <a:solidFill>
                  <a:srgbClr val="C96442"/>
                </a:solidFill>
                <a:latin typeface="Arial" pitchFamily="34" charset="0"/>
                <a:ea typeface="Arial" pitchFamily="34" charset="-122"/>
                <a:cs typeface="Arial" pitchFamily="34" charset="-120"/>
              </a:rPr>
              <a:t>OBJECT — THE GOAL</a:t>
            </a:r>
            <a:endParaRPr lang="en-US" sz="1800" dirty="0"/>
          </a:p>
        </p:txBody>
      </p:sp>
      <p:sp>
        <p:nvSpPr>
          <p:cNvPr id="17" name="Text 15"/>
          <p:cNvSpPr/>
          <p:nvPr/>
        </p:nvSpPr>
        <p:spPr>
          <a:xfrm>
            <a:off x="9525000" y="3930923"/>
            <a:ext cx="7848600" cy="96009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b="1" kern="0" spc="-49" dirty="0">
                <a:solidFill>
                  <a:srgbClr val="1F1B16"/>
                </a:solidFill>
                <a:latin typeface="Arial" pitchFamily="34" charset="0"/>
                <a:ea typeface="Arial" pitchFamily="34" charset="-122"/>
                <a:cs typeface="Arial" pitchFamily="34" charset="-120"/>
              </a:rPr>
              <a:t>Faculty wanted innovation. Some students wanted their discipline.</a:t>
            </a:r>
            <a:endParaRPr lang="en-US" sz="3300" dirty="0"/>
          </a:p>
        </p:txBody>
      </p:sp>
      <p:sp>
        <p:nvSpPr>
          <p:cNvPr id="18" name="Text 16"/>
          <p:cNvSpPr/>
          <p:nvPr/>
        </p:nvSpPr>
        <p:spPr>
          <a:xfrm>
            <a:off x="9525000" y="5100563"/>
            <a:ext cx="7848600" cy="756196"/>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kern="0" spc="-6" dirty="0">
                <a:solidFill>
                  <a:srgbClr val="4A423A"/>
                </a:solidFill>
                <a:latin typeface="Arial" pitchFamily="34" charset="0"/>
                <a:ea typeface="Arial" pitchFamily="34" charset="-122"/>
                <a:cs typeface="Arial" pitchFamily="34" charset="-120"/>
              </a:rPr>
              <a:t>The course intended creative, interdisciplinary projects. That intention met students who, in places, expected discipline-specific training.</a:t>
            </a:r>
            <a:endParaRPr lang="en-US" sz="1950" dirty="0"/>
          </a:p>
        </p:txBody>
      </p:sp>
      <p:sp>
        <p:nvSpPr>
          <p:cNvPr id="19" name="Shape 17"/>
          <p:cNvSpPr/>
          <p:nvPr/>
        </p:nvSpPr>
        <p:spPr>
          <a:xfrm>
            <a:off x="9525000" y="6047259"/>
            <a:ext cx="19050" cy="1155278"/>
          </a:xfrm>
          <a:prstGeom prst="rect">
            <a:avLst/>
          </a:prstGeom>
          <a:solidFill>
            <a:srgbClr val="C96442"/>
          </a:solidFill>
          <a:ln/>
        </p:spPr>
        <p:txBody>
          <a:bodyPr/>
          <a:lstStyle/>
          <a:p>
            <a:endParaRPr lang="nb-NO"/>
          </a:p>
        </p:txBody>
      </p:sp>
      <p:sp>
        <p:nvSpPr>
          <p:cNvPr id="20" name="Text 18"/>
          <p:cNvSpPr/>
          <p:nvPr/>
        </p:nvSpPr>
        <p:spPr>
          <a:xfrm>
            <a:off x="9753600" y="6099646"/>
            <a:ext cx="7531207" cy="644798"/>
          </a:xfrm>
          <a:prstGeom prst="rect">
            <a:avLst/>
          </a:prstGeom>
          <a:noFill/>
          <a:ln/>
        </p:spPr>
        <p:txBody>
          <a:bodyPr wrap="square" lIns="0" tIns="0" rIns="0" bIns="0" rtlCol="0" anchor="t">
            <a:normAutofit fontScale="85000" lnSpcReduction="20000"/>
          </a:bodyPr>
          <a:lstStyle/>
          <a:p>
            <a:pPr marL="0" indent="0" algn="l">
              <a:lnSpc>
                <a:spcPct val="145000"/>
              </a:lnSpc>
              <a:buNone/>
            </a:pPr>
            <a:r>
              <a:rPr lang="en-US" sz="1950" i="1" kern="0" spc="-6" dirty="0">
                <a:solidFill>
                  <a:srgbClr val="4A423A"/>
                </a:solidFill>
                <a:latin typeface="Georgia" pitchFamily="34" charset="0"/>
                <a:ea typeface="Georgia" pitchFamily="34" charset="-122"/>
                <a:cs typeface="Georgia" pitchFamily="34" charset="-120"/>
              </a:rPr>
              <a:t>"Some of these students felt like they were being forced to do something else that wasn't really what they signed up for."</a:t>
            </a:r>
            <a:endParaRPr lang="en-US" sz="1950" dirty="0"/>
          </a:p>
        </p:txBody>
      </p:sp>
      <p:sp>
        <p:nvSpPr>
          <p:cNvPr id="21" name="Text 19"/>
          <p:cNvSpPr/>
          <p:nvPr/>
        </p:nvSpPr>
        <p:spPr>
          <a:xfrm>
            <a:off x="9753600" y="6898704"/>
            <a:ext cx="7613142" cy="34193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kern="0" spc="231" dirty="0">
                <a:solidFill>
                  <a:srgbClr val="8A8174"/>
                </a:solidFill>
                <a:latin typeface="Arial" pitchFamily="34" charset="0"/>
                <a:ea typeface="Arial" pitchFamily="34" charset="-122"/>
                <a:cs typeface="Arial" pitchFamily="34" charset="-120"/>
              </a:rPr>
              <a:t>— FACULTY PARTICIPANT</a:t>
            </a:r>
            <a:endParaRPr lang="en-US" sz="1650" dirty="0"/>
          </a:p>
        </p:txBody>
      </p:sp>
      <p:sp>
        <p:nvSpPr>
          <p:cNvPr id="22" name="Shape 20"/>
          <p:cNvSpPr/>
          <p:nvPr/>
        </p:nvSpPr>
        <p:spPr>
          <a:xfrm>
            <a:off x="1143000" y="9329738"/>
            <a:ext cx="16002000" cy="9525"/>
          </a:xfrm>
          <a:prstGeom prst="rect">
            <a:avLst/>
          </a:prstGeom>
          <a:solidFill>
            <a:srgbClr val="D9D1BF"/>
          </a:solidFill>
          <a:ln/>
        </p:spPr>
        <p:txBody>
          <a:bodyPr/>
          <a:lstStyle/>
          <a:p>
            <a:endParaRPr lang="nb-NO"/>
          </a:p>
        </p:txBody>
      </p:sp>
      <p:sp>
        <p:nvSpPr>
          <p:cNvPr id="23" name="Text 21"/>
          <p:cNvSpPr/>
          <p:nvPr/>
        </p:nvSpPr>
        <p:spPr>
          <a:xfrm>
            <a:off x="1143000" y="9548813"/>
            <a:ext cx="3620703"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8A8174"/>
                </a:solidFill>
                <a:latin typeface="Arial" pitchFamily="34" charset="0"/>
                <a:ea typeface="Arial" pitchFamily="34" charset="-122"/>
                <a:cs typeface="Arial" pitchFamily="34" charset="-120"/>
              </a:rPr>
              <a:t>SECTION 02 · DIAGNOSIS</a:t>
            </a:r>
            <a:endParaRPr lang="en-US" sz="1800" dirty="0"/>
          </a:p>
        </p:txBody>
      </p:sp>
      <p:sp>
        <p:nvSpPr>
          <p:cNvPr id="24" name="Text 22"/>
          <p:cNvSpPr/>
          <p:nvPr/>
        </p:nvSpPr>
        <p:spPr>
          <a:xfrm>
            <a:off x="16239604" y="9548813"/>
            <a:ext cx="981596"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4A423A"/>
                </a:solidFill>
                <a:latin typeface="Arial" pitchFamily="34" charset="0"/>
                <a:ea typeface="Arial" pitchFamily="34" charset="-122"/>
                <a:cs typeface="Arial" pitchFamily="34" charset="-120"/>
              </a:rPr>
              <a:t>05 / 11</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1143000" y="1007269"/>
            <a:ext cx="95250" cy="95250"/>
          </a:xfrm>
          <a:prstGeom prst="ellipse">
            <a:avLst/>
          </a:prstGeom>
          <a:solidFill>
            <a:srgbClr val="C96442"/>
          </a:solidFill>
          <a:ln/>
        </p:spPr>
        <p:txBody>
          <a:bodyPr/>
          <a:lstStyle/>
          <a:p>
            <a:endParaRPr lang="nb-NO"/>
          </a:p>
        </p:txBody>
      </p:sp>
      <p:sp>
        <p:nvSpPr>
          <p:cNvPr id="3" name="Text 1"/>
          <p:cNvSpPr/>
          <p:nvPr/>
        </p:nvSpPr>
        <p:spPr>
          <a:xfrm>
            <a:off x="1409700" y="914400"/>
            <a:ext cx="419026" cy="31908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1B16"/>
                </a:solidFill>
                <a:latin typeface="Arial" pitchFamily="34" charset="0"/>
                <a:ea typeface="Arial" pitchFamily="34" charset="-122"/>
                <a:cs typeface="Arial" pitchFamily="34" charset="-120"/>
              </a:rPr>
              <a:t>06</a:t>
            </a:r>
            <a:endParaRPr lang="en-US" sz="1800" dirty="0"/>
          </a:p>
        </p:txBody>
      </p:sp>
      <p:sp>
        <p:nvSpPr>
          <p:cNvPr id="4" name="Text 2"/>
          <p:cNvSpPr/>
          <p:nvPr/>
        </p:nvSpPr>
        <p:spPr>
          <a:xfrm>
            <a:off x="1923976" y="914400"/>
            <a:ext cx="5784280"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FINDINGS — THE SHARPEST FRICTION</a:t>
            </a:r>
            <a:endParaRPr lang="en-US" sz="1800" dirty="0"/>
          </a:p>
        </p:txBody>
      </p:sp>
      <p:sp>
        <p:nvSpPr>
          <p:cNvPr id="5" name="Text 3"/>
          <p:cNvSpPr/>
          <p:nvPr/>
        </p:nvSpPr>
        <p:spPr>
          <a:xfrm>
            <a:off x="1143000" y="1462088"/>
            <a:ext cx="16482060" cy="678135"/>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96" dirty="0">
                <a:solidFill>
                  <a:srgbClr val="1F1B16"/>
                </a:solidFill>
                <a:latin typeface="Arial" pitchFamily="34" charset="0"/>
                <a:ea typeface="Arial" pitchFamily="34" charset="-122"/>
                <a:cs typeface="Arial" pitchFamily="34" charset="-120"/>
              </a:rPr>
              <a:t>Without rules, the labor distribution couldn't hold.</a:t>
            </a:r>
            <a:endParaRPr lang="en-US" sz="4800" dirty="0"/>
          </a:p>
        </p:txBody>
      </p:sp>
      <p:sp>
        <p:nvSpPr>
          <p:cNvPr id="6" name="Shape 4"/>
          <p:cNvSpPr/>
          <p:nvPr/>
        </p:nvSpPr>
        <p:spPr>
          <a:xfrm>
            <a:off x="1143000" y="2317253"/>
            <a:ext cx="1637481" cy="4905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7" name="Text 5"/>
          <p:cNvSpPr/>
          <p:nvPr/>
        </p:nvSpPr>
        <p:spPr>
          <a:xfrm>
            <a:off x="1362075" y="2422027"/>
            <a:ext cx="1513656" cy="385763"/>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1F1B16"/>
                </a:solidFill>
                <a:latin typeface="Arial" pitchFamily="34" charset="0"/>
                <a:ea typeface="Arial" pitchFamily="34" charset="-122"/>
                <a:cs typeface="Arial" pitchFamily="34" charset="-120"/>
              </a:rPr>
              <a:t>③ RULES</a:t>
            </a:r>
            <a:endParaRPr lang="en-US" sz="1800" dirty="0"/>
          </a:p>
        </p:txBody>
      </p:sp>
      <p:sp>
        <p:nvSpPr>
          <p:cNvPr id="8" name="Shape 6"/>
          <p:cNvSpPr/>
          <p:nvPr/>
        </p:nvSpPr>
        <p:spPr>
          <a:xfrm>
            <a:off x="2875731" y="2317253"/>
            <a:ext cx="3440906" cy="4905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9" name="Text 7"/>
          <p:cNvSpPr/>
          <p:nvPr/>
        </p:nvSpPr>
        <p:spPr>
          <a:xfrm>
            <a:off x="3094806" y="2422028"/>
            <a:ext cx="3560827" cy="319088"/>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1F1B16"/>
                </a:solidFill>
                <a:latin typeface="Arial" pitchFamily="34" charset="0"/>
                <a:ea typeface="Arial" pitchFamily="34" charset="-122"/>
                <a:cs typeface="Arial" pitchFamily="34" charset="-120"/>
              </a:rPr>
              <a:t>⑥ DIVISION OF LABOR</a:t>
            </a:r>
            <a:endParaRPr lang="en-US" sz="1800" dirty="0"/>
          </a:p>
        </p:txBody>
      </p:sp>
      <p:sp>
        <p:nvSpPr>
          <p:cNvPr id="10" name="Text 8"/>
          <p:cNvSpPr/>
          <p:nvPr/>
        </p:nvSpPr>
        <p:spPr>
          <a:xfrm>
            <a:off x="1143000" y="3316560"/>
            <a:ext cx="7848600" cy="319088"/>
          </a:xfrm>
          <a:prstGeom prst="rect">
            <a:avLst/>
          </a:prstGeom>
          <a:noFill/>
          <a:ln/>
        </p:spPr>
        <p:txBody>
          <a:bodyPr wrap="square" lIns="25400" tIns="25400" rIns="25400" bIns="25400" rtlCol="0" anchor="t">
            <a:normAutofit/>
          </a:bodyPr>
          <a:lstStyle/>
          <a:p>
            <a:pPr marL="0" indent="0" algn="l">
              <a:buNone/>
            </a:pPr>
            <a:r>
              <a:rPr lang="en-US" sz="1800" b="1" kern="0" spc="324" dirty="0">
                <a:solidFill>
                  <a:srgbClr val="C96442"/>
                </a:solidFill>
                <a:latin typeface="Arial" pitchFamily="34" charset="0"/>
                <a:ea typeface="Arial" pitchFamily="34" charset="-122"/>
                <a:cs typeface="Arial" pitchFamily="34" charset="-120"/>
              </a:rPr>
              <a:t>RULES — FORMAL &amp; INFORMAL</a:t>
            </a:r>
            <a:endParaRPr lang="en-US" sz="1800" dirty="0"/>
          </a:p>
        </p:txBody>
      </p:sp>
      <p:sp>
        <p:nvSpPr>
          <p:cNvPr id="11" name="Text 9"/>
          <p:cNvSpPr/>
          <p:nvPr/>
        </p:nvSpPr>
        <p:spPr>
          <a:xfrm>
            <a:off x="1143000" y="3929991"/>
            <a:ext cx="7848600" cy="49909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b="1" kern="0" spc="-49" dirty="0">
                <a:solidFill>
                  <a:srgbClr val="1F1B16"/>
                </a:solidFill>
                <a:latin typeface="Arial" pitchFamily="34" charset="0"/>
                <a:ea typeface="Arial" pitchFamily="34" charset="-122"/>
                <a:cs typeface="Arial" pitchFamily="34" charset="-120"/>
              </a:rPr>
              <a:t>"Maybe a bit too little structure."</a:t>
            </a:r>
            <a:endParaRPr lang="en-US" sz="3300" dirty="0"/>
          </a:p>
        </p:txBody>
      </p:sp>
      <p:sp>
        <p:nvSpPr>
          <p:cNvPr id="12" name="Text 10"/>
          <p:cNvSpPr/>
          <p:nvPr/>
        </p:nvSpPr>
        <p:spPr>
          <a:xfrm>
            <a:off x="1143000" y="4638636"/>
            <a:ext cx="7848600" cy="1115244"/>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950" kern="0" spc="-6" dirty="0">
                <a:solidFill>
                  <a:srgbClr val="4A423A"/>
                </a:solidFill>
                <a:latin typeface="Arial" pitchFamily="34" charset="0"/>
                <a:ea typeface="Arial" pitchFamily="34" charset="-122"/>
                <a:cs typeface="Arial" pitchFamily="34" charset="-120"/>
              </a:rPr>
              <a:t>Roles, schedules, and communication norms had to be improvised. Different lead teachers gave different information; lines of authority were unclear.</a:t>
            </a:r>
            <a:endParaRPr lang="en-US" sz="1950" dirty="0"/>
          </a:p>
        </p:txBody>
      </p:sp>
      <p:sp>
        <p:nvSpPr>
          <p:cNvPr id="13" name="Shape 11"/>
          <p:cNvSpPr/>
          <p:nvPr/>
        </p:nvSpPr>
        <p:spPr>
          <a:xfrm>
            <a:off x="1143000" y="5944380"/>
            <a:ext cx="19050" cy="1155278"/>
          </a:xfrm>
          <a:prstGeom prst="rect">
            <a:avLst/>
          </a:prstGeom>
          <a:solidFill>
            <a:srgbClr val="C96442"/>
          </a:solidFill>
          <a:ln/>
        </p:spPr>
        <p:txBody>
          <a:bodyPr/>
          <a:lstStyle/>
          <a:p>
            <a:endParaRPr lang="nb-NO"/>
          </a:p>
        </p:txBody>
      </p:sp>
      <p:sp>
        <p:nvSpPr>
          <p:cNvPr id="14" name="Text 12"/>
          <p:cNvSpPr/>
          <p:nvPr/>
        </p:nvSpPr>
        <p:spPr>
          <a:xfrm>
            <a:off x="1371600" y="5996767"/>
            <a:ext cx="6844608" cy="644798"/>
          </a:xfrm>
          <a:prstGeom prst="rect">
            <a:avLst/>
          </a:prstGeom>
          <a:noFill/>
          <a:ln/>
        </p:spPr>
        <p:txBody>
          <a:bodyPr wrap="square" lIns="0" tIns="0" rIns="0" bIns="0" rtlCol="0" anchor="t">
            <a:normAutofit fontScale="85000" lnSpcReduction="20000"/>
          </a:bodyPr>
          <a:lstStyle/>
          <a:p>
            <a:pPr marL="0" indent="0" algn="l">
              <a:lnSpc>
                <a:spcPct val="145000"/>
              </a:lnSpc>
              <a:buNone/>
            </a:pPr>
            <a:r>
              <a:rPr lang="en-US" sz="1950" i="1" kern="0" spc="-6" dirty="0">
                <a:solidFill>
                  <a:srgbClr val="4A423A"/>
                </a:solidFill>
                <a:latin typeface="Georgia" pitchFamily="34" charset="0"/>
                <a:ea typeface="Georgia" pitchFamily="34" charset="-122"/>
                <a:cs typeface="Georgia" pitchFamily="34" charset="-120"/>
              </a:rPr>
              <a:t>"Everything from roles to communication guidelines to responsibilities… everything had to be built."</a:t>
            </a:r>
            <a:endParaRPr lang="en-US" sz="1950" dirty="0"/>
          </a:p>
        </p:txBody>
      </p:sp>
      <p:sp>
        <p:nvSpPr>
          <p:cNvPr id="15" name="Text 13"/>
          <p:cNvSpPr/>
          <p:nvPr/>
        </p:nvSpPr>
        <p:spPr>
          <a:xfrm>
            <a:off x="1371600" y="6795825"/>
            <a:ext cx="7613142" cy="34193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kern="0" spc="231" dirty="0">
                <a:solidFill>
                  <a:srgbClr val="8A8174"/>
                </a:solidFill>
                <a:latin typeface="Arial" pitchFamily="34" charset="0"/>
                <a:ea typeface="Arial" pitchFamily="34" charset="-122"/>
                <a:cs typeface="Arial" pitchFamily="34" charset="-120"/>
              </a:rPr>
              <a:t>— FACULTY PARTICIPANT</a:t>
            </a:r>
            <a:endParaRPr lang="en-US" sz="1650" dirty="0"/>
          </a:p>
        </p:txBody>
      </p:sp>
      <p:sp>
        <p:nvSpPr>
          <p:cNvPr id="16" name="Text 14"/>
          <p:cNvSpPr/>
          <p:nvPr/>
        </p:nvSpPr>
        <p:spPr>
          <a:xfrm>
            <a:off x="9525000" y="3316560"/>
            <a:ext cx="7848600" cy="319088"/>
          </a:xfrm>
          <a:prstGeom prst="rect">
            <a:avLst/>
          </a:prstGeom>
          <a:noFill/>
          <a:ln/>
        </p:spPr>
        <p:txBody>
          <a:bodyPr wrap="square" lIns="25400" tIns="25400" rIns="25400" bIns="25400" rtlCol="0" anchor="t">
            <a:normAutofit/>
          </a:bodyPr>
          <a:lstStyle/>
          <a:p>
            <a:pPr marL="0" indent="0" algn="l">
              <a:buNone/>
            </a:pPr>
            <a:r>
              <a:rPr lang="en-US" sz="1800" b="1" kern="0" spc="324" dirty="0">
                <a:solidFill>
                  <a:srgbClr val="C96442"/>
                </a:solidFill>
                <a:latin typeface="Arial" pitchFamily="34" charset="0"/>
                <a:ea typeface="Arial" pitchFamily="34" charset="-122"/>
                <a:cs typeface="Arial" pitchFamily="34" charset="-120"/>
              </a:rPr>
              <a:t>DIVISION OF LABOR</a:t>
            </a:r>
            <a:endParaRPr lang="en-US" sz="1800" dirty="0"/>
          </a:p>
        </p:txBody>
      </p:sp>
      <p:sp>
        <p:nvSpPr>
          <p:cNvPr id="17" name="Text 15"/>
          <p:cNvSpPr/>
          <p:nvPr/>
        </p:nvSpPr>
        <p:spPr>
          <a:xfrm>
            <a:off x="9525000" y="3929991"/>
            <a:ext cx="7848600" cy="96009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b="1" kern="0" spc="-49" dirty="0">
                <a:solidFill>
                  <a:srgbClr val="1F1B16"/>
                </a:solidFill>
                <a:latin typeface="Arial" pitchFamily="34" charset="0"/>
                <a:ea typeface="Arial" pitchFamily="34" charset="-122"/>
                <a:cs typeface="Arial" pitchFamily="34" charset="-120"/>
              </a:rPr>
              <a:t>Double roles for some. Underutilization for others.</a:t>
            </a:r>
            <a:endParaRPr lang="en-US" sz="3300" dirty="0"/>
          </a:p>
        </p:txBody>
      </p:sp>
      <p:sp>
        <p:nvSpPr>
          <p:cNvPr id="18" name="Text 16"/>
          <p:cNvSpPr/>
          <p:nvPr/>
        </p:nvSpPr>
        <p:spPr>
          <a:xfrm>
            <a:off x="9525000" y="5099631"/>
            <a:ext cx="7848600" cy="1115244"/>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kern="0" spc="-6" dirty="0">
                <a:solidFill>
                  <a:srgbClr val="4A423A"/>
                </a:solidFill>
                <a:latin typeface="Arial" pitchFamily="34" charset="0"/>
                <a:ea typeface="Arial" pitchFamily="34" charset="-122"/>
                <a:cs typeface="Arial" pitchFamily="34" charset="-120"/>
              </a:rPr>
              <a:t>Course teacher </a:t>
            </a:r>
            <a:r>
              <a:rPr lang="en-US" sz="1950" i="1" kern="0" spc="-6" dirty="0">
                <a:solidFill>
                  <a:srgbClr val="4A423A"/>
                </a:solidFill>
                <a:latin typeface="Arial" pitchFamily="34" charset="0"/>
                <a:ea typeface="Arial" pitchFamily="34" charset="-122"/>
                <a:cs typeface="Arial" pitchFamily="34" charset="-120"/>
              </a:rPr>
              <a:t>and </a:t>
            </a:r>
            <a:r>
              <a:rPr lang="en-US" sz="1950" kern="0" spc="-6" dirty="0">
                <a:solidFill>
                  <a:srgbClr val="4A423A"/>
                </a:solidFill>
                <a:latin typeface="Arial" pitchFamily="34" charset="0"/>
                <a:ea typeface="Arial" pitchFamily="34" charset="-122"/>
                <a:cs typeface="Arial" pitchFamily="34" charset="-120"/>
              </a:rPr>
              <a:t>village leader at once for some; uncertain scope and unused expertise for others. Many learned their assignments only after students had begun.</a:t>
            </a:r>
            <a:endParaRPr lang="en-US" sz="1950" dirty="0"/>
          </a:p>
        </p:txBody>
      </p:sp>
      <p:sp>
        <p:nvSpPr>
          <p:cNvPr id="19" name="Shape 17"/>
          <p:cNvSpPr/>
          <p:nvPr/>
        </p:nvSpPr>
        <p:spPr>
          <a:xfrm>
            <a:off x="9525000" y="6405375"/>
            <a:ext cx="19050" cy="1155278"/>
          </a:xfrm>
          <a:prstGeom prst="rect">
            <a:avLst/>
          </a:prstGeom>
          <a:solidFill>
            <a:srgbClr val="C96442"/>
          </a:solidFill>
          <a:ln/>
        </p:spPr>
        <p:txBody>
          <a:bodyPr/>
          <a:lstStyle/>
          <a:p>
            <a:endParaRPr lang="nb-NO"/>
          </a:p>
        </p:txBody>
      </p:sp>
      <p:sp>
        <p:nvSpPr>
          <p:cNvPr id="20" name="Text 18"/>
          <p:cNvSpPr/>
          <p:nvPr/>
        </p:nvSpPr>
        <p:spPr>
          <a:xfrm>
            <a:off x="9753600" y="6457762"/>
            <a:ext cx="7427198" cy="644798"/>
          </a:xfrm>
          <a:prstGeom prst="rect">
            <a:avLst/>
          </a:prstGeom>
          <a:noFill/>
          <a:ln/>
        </p:spPr>
        <p:txBody>
          <a:bodyPr wrap="square" lIns="0" tIns="0" rIns="0" bIns="0" rtlCol="0" anchor="t">
            <a:normAutofit fontScale="85000" lnSpcReduction="20000"/>
          </a:bodyPr>
          <a:lstStyle/>
          <a:p>
            <a:pPr marL="0" indent="0" algn="l">
              <a:lnSpc>
                <a:spcPct val="145000"/>
              </a:lnSpc>
              <a:buNone/>
            </a:pPr>
            <a:r>
              <a:rPr lang="en-US" sz="1950" i="1" kern="0" spc="-6" dirty="0">
                <a:solidFill>
                  <a:srgbClr val="4A423A"/>
                </a:solidFill>
                <a:latin typeface="Georgia" pitchFamily="34" charset="0"/>
                <a:ea typeface="Georgia" pitchFamily="34" charset="-122"/>
                <a:cs typeface="Georgia" pitchFamily="34" charset="-120"/>
              </a:rPr>
              <a:t>"Those [planning and scheduling] were a bit improvised … I didn't know much about how it was going to be conducted."</a:t>
            </a:r>
            <a:endParaRPr lang="en-US" sz="1950" dirty="0"/>
          </a:p>
        </p:txBody>
      </p:sp>
      <p:sp>
        <p:nvSpPr>
          <p:cNvPr id="21" name="Text 19"/>
          <p:cNvSpPr/>
          <p:nvPr/>
        </p:nvSpPr>
        <p:spPr>
          <a:xfrm>
            <a:off x="9753600" y="7256820"/>
            <a:ext cx="7613142" cy="341933"/>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kern="0" spc="231" dirty="0">
                <a:solidFill>
                  <a:srgbClr val="8A8174"/>
                </a:solidFill>
                <a:latin typeface="Arial" pitchFamily="34" charset="0"/>
                <a:ea typeface="Arial" pitchFamily="34" charset="-122"/>
                <a:cs typeface="Arial" pitchFamily="34" charset="-120"/>
              </a:rPr>
              <a:t>— FACULTY PARTICIPANT</a:t>
            </a:r>
            <a:endParaRPr lang="en-US" sz="1650" dirty="0"/>
          </a:p>
        </p:txBody>
      </p:sp>
      <p:sp>
        <p:nvSpPr>
          <p:cNvPr id="22" name="Shape 20"/>
          <p:cNvSpPr/>
          <p:nvPr/>
        </p:nvSpPr>
        <p:spPr>
          <a:xfrm>
            <a:off x="1143000" y="9329738"/>
            <a:ext cx="16002000" cy="9525"/>
          </a:xfrm>
          <a:prstGeom prst="rect">
            <a:avLst/>
          </a:prstGeom>
          <a:solidFill>
            <a:srgbClr val="D9D1BF"/>
          </a:solidFill>
          <a:ln/>
        </p:spPr>
        <p:txBody>
          <a:bodyPr/>
          <a:lstStyle/>
          <a:p>
            <a:endParaRPr lang="nb-NO"/>
          </a:p>
        </p:txBody>
      </p:sp>
      <p:sp>
        <p:nvSpPr>
          <p:cNvPr id="23" name="Text 21"/>
          <p:cNvSpPr/>
          <p:nvPr/>
        </p:nvSpPr>
        <p:spPr>
          <a:xfrm>
            <a:off x="1143000" y="9548813"/>
            <a:ext cx="3620703"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8A8174"/>
                </a:solidFill>
                <a:latin typeface="Arial" pitchFamily="34" charset="0"/>
                <a:ea typeface="Arial" pitchFamily="34" charset="-122"/>
                <a:cs typeface="Arial" pitchFamily="34" charset="-120"/>
              </a:rPr>
              <a:t>SECTION 02 · DIAGNOSIS</a:t>
            </a:r>
            <a:endParaRPr lang="en-US" sz="1800" dirty="0"/>
          </a:p>
        </p:txBody>
      </p:sp>
      <p:sp>
        <p:nvSpPr>
          <p:cNvPr id="24" name="Text 22"/>
          <p:cNvSpPr/>
          <p:nvPr/>
        </p:nvSpPr>
        <p:spPr>
          <a:xfrm>
            <a:off x="16233353" y="9548813"/>
            <a:ext cx="987847"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4A423A"/>
                </a:solidFill>
                <a:latin typeface="Arial" pitchFamily="34" charset="0"/>
                <a:ea typeface="Arial" pitchFamily="34" charset="-122"/>
                <a:cs typeface="Arial" pitchFamily="34" charset="-120"/>
              </a:rPr>
              <a:t>06 / 11</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1143000" y="1007269"/>
            <a:ext cx="95250" cy="95250"/>
          </a:xfrm>
          <a:prstGeom prst="ellipse">
            <a:avLst/>
          </a:prstGeom>
          <a:solidFill>
            <a:srgbClr val="C96442"/>
          </a:solidFill>
          <a:ln/>
        </p:spPr>
        <p:txBody>
          <a:bodyPr/>
          <a:lstStyle/>
          <a:p>
            <a:endParaRPr lang="nb-NO"/>
          </a:p>
        </p:txBody>
      </p:sp>
      <p:sp>
        <p:nvSpPr>
          <p:cNvPr id="3" name="Text 1"/>
          <p:cNvSpPr/>
          <p:nvPr/>
        </p:nvSpPr>
        <p:spPr>
          <a:xfrm>
            <a:off x="1409700" y="914400"/>
            <a:ext cx="400050" cy="31908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1B16"/>
                </a:solidFill>
                <a:latin typeface="Arial" pitchFamily="34" charset="0"/>
                <a:ea typeface="Arial" pitchFamily="34" charset="-122"/>
                <a:cs typeface="Arial" pitchFamily="34" charset="-120"/>
              </a:rPr>
              <a:t>07</a:t>
            </a:r>
            <a:endParaRPr lang="en-US" sz="1800" dirty="0"/>
          </a:p>
        </p:txBody>
      </p:sp>
      <p:sp>
        <p:nvSpPr>
          <p:cNvPr id="4" name="Text 2"/>
          <p:cNvSpPr/>
          <p:nvPr/>
        </p:nvSpPr>
        <p:spPr>
          <a:xfrm>
            <a:off x="1905000" y="914400"/>
            <a:ext cx="5824443"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FINDINGS — THE CONNECTIVE TISSUE</a:t>
            </a:r>
            <a:endParaRPr lang="en-US" sz="1800" dirty="0"/>
          </a:p>
        </p:txBody>
      </p:sp>
      <p:sp>
        <p:nvSpPr>
          <p:cNvPr id="5" name="Text 3"/>
          <p:cNvSpPr/>
          <p:nvPr/>
        </p:nvSpPr>
        <p:spPr>
          <a:xfrm>
            <a:off x="1143000" y="1462088"/>
            <a:ext cx="16482060" cy="678135"/>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96" dirty="0">
                <a:solidFill>
                  <a:srgbClr val="1F1B16"/>
                </a:solidFill>
                <a:latin typeface="Arial" pitchFamily="34" charset="0"/>
                <a:ea typeface="Arial" pitchFamily="34" charset="-122"/>
                <a:cs typeface="Arial" pitchFamily="34" charset="-120"/>
              </a:rPr>
              <a:t>Local belonging. Global fragmentation.</a:t>
            </a:r>
            <a:endParaRPr lang="en-US" sz="4800" dirty="0"/>
          </a:p>
        </p:txBody>
      </p:sp>
      <p:sp>
        <p:nvSpPr>
          <p:cNvPr id="6" name="Shape 4"/>
          <p:cNvSpPr/>
          <p:nvPr/>
        </p:nvSpPr>
        <p:spPr>
          <a:xfrm>
            <a:off x="1143000" y="2178323"/>
            <a:ext cx="1675061" cy="4905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7" name="Text 5"/>
          <p:cNvSpPr/>
          <p:nvPr/>
        </p:nvSpPr>
        <p:spPr>
          <a:xfrm>
            <a:off x="1362075" y="2283098"/>
            <a:ext cx="1313111" cy="31908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1F1B16"/>
                </a:solidFill>
                <a:latin typeface="Arial" pitchFamily="34" charset="0"/>
                <a:ea typeface="Arial" pitchFamily="34" charset="-122"/>
                <a:cs typeface="Arial" pitchFamily="34" charset="-120"/>
              </a:rPr>
              <a:t>④ TOOLS</a:t>
            </a:r>
            <a:endParaRPr lang="en-US" sz="1800" dirty="0"/>
          </a:p>
        </p:txBody>
      </p:sp>
      <p:sp>
        <p:nvSpPr>
          <p:cNvPr id="8" name="Shape 6"/>
          <p:cNvSpPr/>
          <p:nvPr/>
        </p:nvSpPr>
        <p:spPr>
          <a:xfrm>
            <a:off x="2913311" y="2178323"/>
            <a:ext cx="2491755" cy="4905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9" name="Text 7"/>
          <p:cNvSpPr/>
          <p:nvPr/>
        </p:nvSpPr>
        <p:spPr>
          <a:xfrm>
            <a:off x="3132386" y="2283098"/>
            <a:ext cx="2129805" cy="31908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1F1B16"/>
                </a:solidFill>
                <a:latin typeface="Arial" pitchFamily="34" charset="0"/>
                <a:ea typeface="Arial" pitchFamily="34" charset="-122"/>
                <a:cs typeface="Arial" pitchFamily="34" charset="-120"/>
              </a:rPr>
              <a:t>⑤ COMMUNITY</a:t>
            </a:r>
            <a:endParaRPr lang="en-US" sz="1800" dirty="0"/>
          </a:p>
        </p:txBody>
      </p:sp>
      <p:sp>
        <p:nvSpPr>
          <p:cNvPr id="10" name="Text 8"/>
          <p:cNvSpPr/>
          <p:nvPr/>
        </p:nvSpPr>
        <p:spPr>
          <a:xfrm>
            <a:off x="1143000" y="3316560"/>
            <a:ext cx="7848600" cy="319088"/>
          </a:xfrm>
          <a:prstGeom prst="rect">
            <a:avLst/>
          </a:prstGeom>
          <a:noFill/>
          <a:ln/>
        </p:spPr>
        <p:txBody>
          <a:bodyPr wrap="square" lIns="25400" tIns="25400" rIns="25400" bIns="25400" rtlCol="0" anchor="t">
            <a:normAutofit/>
          </a:bodyPr>
          <a:lstStyle/>
          <a:p>
            <a:pPr marL="0" indent="0" algn="l">
              <a:buNone/>
            </a:pPr>
            <a:r>
              <a:rPr lang="en-US" sz="1800" b="1" kern="0" spc="324" dirty="0">
                <a:solidFill>
                  <a:srgbClr val="C96442"/>
                </a:solidFill>
                <a:latin typeface="Arial" pitchFamily="34" charset="0"/>
                <a:ea typeface="Arial" pitchFamily="34" charset="-122"/>
                <a:cs typeface="Arial" pitchFamily="34" charset="-120"/>
              </a:rPr>
              <a:t>TOOLS</a:t>
            </a:r>
            <a:endParaRPr lang="en-US" sz="1800" dirty="0"/>
          </a:p>
        </p:txBody>
      </p:sp>
      <p:sp>
        <p:nvSpPr>
          <p:cNvPr id="11" name="Text 9"/>
          <p:cNvSpPr/>
          <p:nvPr/>
        </p:nvSpPr>
        <p:spPr>
          <a:xfrm>
            <a:off x="1143000" y="3768998"/>
            <a:ext cx="7848600" cy="960090"/>
          </a:xfrm>
          <a:prstGeom prst="rect">
            <a:avLst/>
          </a:prstGeom>
          <a:noFill/>
          <a:ln/>
        </p:spPr>
        <p:txBody>
          <a:bodyPr wrap="square" lIns="25400" tIns="25400" rIns="25400" bIns="25400" rtlCol="0" anchor="t">
            <a:normAutofit/>
          </a:bodyPr>
          <a:lstStyle/>
          <a:p>
            <a:pPr marL="0" indent="0" algn="l">
              <a:lnSpc>
                <a:spcPct val="110000"/>
              </a:lnSpc>
              <a:buNone/>
            </a:pPr>
            <a:r>
              <a:rPr lang="en-US" sz="3300" b="1" kern="0" spc="-49" dirty="0">
                <a:solidFill>
                  <a:srgbClr val="1F1B16"/>
                </a:solidFill>
                <a:latin typeface="Arial" pitchFamily="34" charset="0"/>
                <a:ea typeface="Arial" pitchFamily="34" charset="-122"/>
                <a:cs typeface="Arial" pitchFamily="34" charset="-120"/>
              </a:rPr>
              <a:t>Channels existed. A shared way to use them did not.</a:t>
            </a:r>
            <a:endParaRPr lang="en-US" sz="3300" dirty="0"/>
          </a:p>
        </p:txBody>
      </p:sp>
      <p:sp>
        <p:nvSpPr>
          <p:cNvPr id="12" name="Text 10"/>
          <p:cNvSpPr/>
          <p:nvPr/>
        </p:nvSpPr>
        <p:spPr>
          <a:xfrm>
            <a:off x="1143000" y="4938638"/>
            <a:ext cx="7848600" cy="756196"/>
          </a:xfrm>
          <a:prstGeom prst="rect">
            <a:avLst/>
          </a:prstGeom>
          <a:noFill/>
          <a:ln/>
        </p:spPr>
        <p:txBody>
          <a:bodyPr wrap="square" lIns="25400" tIns="25400" rIns="25400" bIns="25400" rtlCol="0" anchor="t">
            <a:normAutofit/>
          </a:bodyPr>
          <a:lstStyle/>
          <a:p>
            <a:pPr marL="0" indent="0" algn="l">
              <a:lnSpc>
                <a:spcPct val="145000"/>
              </a:lnSpc>
              <a:buNone/>
            </a:pPr>
            <a:r>
              <a:rPr lang="en-US" sz="1950" kern="0" spc="-6" dirty="0">
                <a:solidFill>
                  <a:srgbClr val="4A423A"/>
                </a:solidFill>
                <a:latin typeface="Arial" pitchFamily="34" charset="0"/>
                <a:ea typeface="Arial" pitchFamily="34" charset="-122"/>
                <a:cs typeface="Arial" pitchFamily="34" charset="-120"/>
              </a:rPr>
              <a:t>Teams, email, and frameworks like Prisma were all in play, but used informally. Information scattered; cognitive load grew.</a:t>
            </a:r>
            <a:endParaRPr lang="en-US" sz="1950" dirty="0"/>
          </a:p>
        </p:txBody>
      </p:sp>
      <p:sp>
        <p:nvSpPr>
          <p:cNvPr id="13" name="Shape 11"/>
          <p:cNvSpPr/>
          <p:nvPr/>
        </p:nvSpPr>
        <p:spPr>
          <a:xfrm>
            <a:off x="1143000" y="5885334"/>
            <a:ext cx="19050" cy="796230"/>
          </a:xfrm>
          <a:prstGeom prst="rect">
            <a:avLst/>
          </a:prstGeom>
          <a:solidFill>
            <a:srgbClr val="C96442"/>
          </a:solidFill>
          <a:ln/>
        </p:spPr>
        <p:txBody>
          <a:bodyPr/>
          <a:lstStyle/>
          <a:p>
            <a:endParaRPr lang="nb-NO"/>
          </a:p>
        </p:txBody>
      </p:sp>
      <p:sp>
        <p:nvSpPr>
          <p:cNvPr id="14" name="Text 12"/>
          <p:cNvSpPr/>
          <p:nvPr/>
        </p:nvSpPr>
        <p:spPr>
          <a:xfrm>
            <a:off x="1371600" y="5937721"/>
            <a:ext cx="6391014" cy="285750"/>
          </a:xfrm>
          <a:prstGeom prst="rect">
            <a:avLst/>
          </a:prstGeom>
          <a:noFill/>
          <a:ln/>
        </p:spPr>
        <p:txBody>
          <a:bodyPr wrap="square" lIns="0" tIns="0" rIns="0" bIns="0" rtlCol="0" anchor="t">
            <a:normAutofit/>
          </a:bodyPr>
          <a:lstStyle/>
          <a:p>
            <a:pPr marL="0" indent="0" algn="l">
              <a:lnSpc>
                <a:spcPct val="145000"/>
              </a:lnSpc>
              <a:buNone/>
            </a:pPr>
            <a:r>
              <a:rPr lang="en-US" sz="1950" i="1" kern="0" spc="-6" dirty="0">
                <a:solidFill>
                  <a:srgbClr val="4A423A"/>
                </a:solidFill>
                <a:latin typeface="Georgia" pitchFamily="34" charset="0"/>
                <a:ea typeface="Georgia" pitchFamily="34" charset="-122"/>
                <a:cs typeface="Georgia" pitchFamily="34" charset="-120"/>
              </a:rPr>
              <a:t>"Messages and documents were scattered across different channels."</a:t>
            </a:r>
            <a:endParaRPr lang="en-US" sz="1950" dirty="0"/>
          </a:p>
        </p:txBody>
      </p:sp>
      <p:sp>
        <p:nvSpPr>
          <p:cNvPr id="15" name="Text 13"/>
          <p:cNvSpPr/>
          <p:nvPr/>
        </p:nvSpPr>
        <p:spPr>
          <a:xfrm>
            <a:off x="1371600" y="6377732"/>
            <a:ext cx="7613142" cy="341933"/>
          </a:xfrm>
          <a:prstGeom prst="rect">
            <a:avLst/>
          </a:prstGeom>
          <a:noFill/>
          <a:ln/>
        </p:spPr>
        <p:txBody>
          <a:bodyPr wrap="square" lIns="25400" tIns="25400" rIns="25400" bIns="25400" rtlCol="0" anchor="t">
            <a:normAutofit/>
          </a:bodyPr>
          <a:lstStyle/>
          <a:p>
            <a:pPr marL="0" indent="0" algn="l">
              <a:lnSpc>
                <a:spcPct val="145000"/>
              </a:lnSpc>
              <a:buNone/>
            </a:pPr>
            <a:r>
              <a:rPr lang="en-US" sz="1650" kern="0" spc="231" dirty="0">
                <a:solidFill>
                  <a:srgbClr val="8A8174"/>
                </a:solidFill>
                <a:latin typeface="Arial" pitchFamily="34" charset="0"/>
                <a:ea typeface="Arial" pitchFamily="34" charset="-122"/>
                <a:cs typeface="Arial" pitchFamily="34" charset="-120"/>
              </a:rPr>
              <a:t>— FACULTY PARTICIPANT</a:t>
            </a:r>
            <a:endParaRPr lang="en-US" sz="1650" dirty="0"/>
          </a:p>
        </p:txBody>
      </p:sp>
      <p:sp>
        <p:nvSpPr>
          <p:cNvPr id="16" name="Text 14"/>
          <p:cNvSpPr/>
          <p:nvPr/>
        </p:nvSpPr>
        <p:spPr>
          <a:xfrm>
            <a:off x="9525000" y="3316560"/>
            <a:ext cx="7848600" cy="319088"/>
          </a:xfrm>
          <a:prstGeom prst="rect">
            <a:avLst/>
          </a:prstGeom>
          <a:noFill/>
          <a:ln/>
        </p:spPr>
        <p:txBody>
          <a:bodyPr wrap="square" lIns="25400" tIns="25400" rIns="25400" bIns="25400" rtlCol="0" anchor="t">
            <a:normAutofit/>
          </a:bodyPr>
          <a:lstStyle/>
          <a:p>
            <a:pPr marL="0" indent="0" algn="l">
              <a:buNone/>
            </a:pPr>
            <a:r>
              <a:rPr lang="en-US" sz="1800" b="1" kern="0" spc="324" dirty="0">
                <a:solidFill>
                  <a:srgbClr val="C96442"/>
                </a:solidFill>
                <a:latin typeface="Arial" pitchFamily="34" charset="0"/>
                <a:ea typeface="Arial" pitchFamily="34" charset="-122"/>
                <a:cs typeface="Arial" pitchFamily="34" charset="-120"/>
              </a:rPr>
              <a:t>COMMUNITY</a:t>
            </a:r>
            <a:endParaRPr lang="en-US" sz="1800" dirty="0"/>
          </a:p>
        </p:txBody>
      </p:sp>
      <p:sp>
        <p:nvSpPr>
          <p:cNvPr id="17" name="Text 15"/>
          <p:cNvSpPr/>
          <p:nvPr/>
        </p:nvSpPr>
        <p:spPr>
          <a:xfrm>
            <a:off x="9525000" y="3768998"/>
            <a:ext cx="7848600" cy="960090"/>
          </a:xfrm>
          <a:prstGeom prst="rect">
            <a:avLst/>
          </a:prstGeom>
          <a:noFill/>
          <a:ln/>
        </p:spPr>
        <p:txBody>
          <a:bodyPr wrap="square" lIns="25400" tIns="25400" rIns="25400" bIns="25400" rtlCol="0" anchor="t">
            <a:normAutofit/>
          </a:bodyPr>
          <a:lstStyle/>
          <a:p>
            <a:pPr marL="0" indent="0" algn="l">
              <a:lnSpc>
                <a:spcPct val="110000"/>
              </a:lnSpc>
              <a:buNone/>
            </a:pPr>
            <a:r>
              <a:rPr lang="en-US" sz="3300" b="1" kern="0" spc="-49" dirty="0">
                <a:solidFill>
                  <a:srgbClr val="1F1B16"/>
                </a:solidFill>
                <a:latin typeface="Arial" pitchFamily="34" charset="0"/>
                <a:ea typeface="Arial" pitchFamily="34" charset="-122"/>
                <a:cs typeface="Arial" pitchFamily="34" charset="-120"/>
              </a:rPr>
              <a:t>Real collaboration happened in the hallway.</a:t>
            </a:r>
            <a:endParaRPr lang="en-US" sz="3300" dirty="0"/>
          </a:p>
        </p:txBody>
      </p:sp>
      <p:sp>
        <p:nvSpPr>
          <p:cNvPr id="18" name="Text 16"/>
          <p:cNvSpPr/>
          <p:nvPr/>
        </p:nvSpPr>
        <p:spPr>
          <a:xfrm>
            <a:off x="9525000" y="4938638"/>
            <a:ext cx="7848600" cy="1115244"/>
          </a:xfrm>
          <a:prstGeom prst="rect">
            <a:avLst/>
          </a:prstGeom>
          <a:noFill/>
          <a:ln/>
        </p:spPr>
        <p:txBody>
          <a:bodyPr wrap="square" lIns="25400" tIns="25400" rIns="25400" bIns="25400" rtlCol="0" anchor="t">
            <a:normAutofit/>
          </a:bodyPr>
          <a:lstStyle/>
          <a:p>
            <a:pPr marL="0" indent="0" algn="l">
              <a:lnSpc>
                <a:spcPct val="145000"/>
              </a:lnSpc>
              <a:buNone/>
            </a:pPr>
            <a:r>
              <a:rPr lang="en-US" sz="1950" kern="0" spc="-6" dirty="0">
                <a:solidFill>
                  <a:srgbClr val="4A423A"/>
                </a:solidFill>
                <a:latin typeface="Arial" pitchFamily="34" charset="0"/>
                <a:ea typeface="Arial" pitchFamily="34" charset="-122"/>
                <a:cs typeface="Arial" pitchFamily="34" charset="-120"/>
              </a:rPr>
              <a:t>Villages developed strong internal identities — generative inside, walls outside. The most useful coordination often happened around the lunch table, not in scheduled meetings.</a:t>
            </a:r>
            <a:endParaRPr lang="en-US" sz="1950" dirty="0"/>
          </a:p>
        </p:txBody>
      </p:sp>
      <p:sp>
        <p:nvSpPr>
          <p:cNvPr id="19" name="Shape 17"/>
          <p:cNvSpPr/>
          <p:nvPr/>
        </p:nvSpPr>
        <p:spPr>
          <a:xfrm>
            <a:off x="9525000" y="6244382"/>
            <a:ext cx="19050" cy="1155278"/>
          </a:xfrm>
          <a:prstGeom prst="rect">
            <a:avLst/>
          </a:prstGeom>
          <a:solidFill>
            <a:srgbClr val="C96442"/>
          </a:solidFill>
          <a:ln/>
        </p:spPr>
        <p:txBody>
          <a:bodyPr/>
          <a:lstStyle/>
          <a:p>
            <a:endParaRPr lang="nb-NO"/>
          </a:p>
        </p:txBody>
      </p:sp>
      <p:sp>
        <p:nvSpPr>
          <p:cNvPr id="20" name="Text 18"/>
          <p:cNvSpPr/>
          <p:nvPr/>
        </p:nvSpPr>
        <p:spPr>
          <a:xfrm>
            <a:off x="9753600" y="6296769"/>
            <a:ext cx="7347179" cy="644798"/>
          </a:xfrm>
          <a:prstGeom prst="rect">
            <a:avLst/>
          </a:prstGeom>
          <a:noFill/>
          <a:ln/>
        </p:spPr>
        <p:txBody>
          <a:bodyPr wrap="square" lIns="0" tIns="0" rIns="0" bIns="0" rtlCol="0" anchor="t">
            <a:normAutofit/>
          </a:bodyPr>
          <a:lstStyle/>
          <a:p>
            <a:pPr marL="0" indent="0" algn="l">
              <a:lnSpc>
                <a:spcPct val="145000"/>
              </a:lnSpc>
              <a:buNone/>
            </a:pPr>
            <a:r>
              <a:rPr lang="en-US" sz="1950" i="1" kern="0" spc="-6" dirty="0">
                <a:solidFill>
                  <a:srgbClr val="4A423A"/>
                </a:solidFill>
                <a:latin typeface="Georgia" pitchFamily="34" charset="0"/>
                <a:ea typeface="Georgia" pitchFamily="34" charset="-122"/>
                <a:cs typeface="Georgia" pitchFamily="34" charset="-120"/>
              </a:rPr>
              <a:t>"Teacher collaboration happened informally rather than as part of a planned system."</a:t>
            </a:r>
            <a:endParaRPr lang="en-US" sz="1950" dirty="0"/>
          </a:p>
        </p:txBody>
      </p:sp>
      <p:sp>
        <p:nvSpPr>
          <p:cNvPr id="21" name="Text 19"/>
          <p:cNvSpPr/>
          <p:nvPr/>
        </p:nvSpPr>
        <p:spPr>
          <a:xfrm>
            <a:off x="9753600" y="7095827"/>
            <a:ext cx="7613142" cy="341933"/>
          </a:xfrm>
          <a:prstGeom prst="rect">
            <a:avLst/>
          </a:prstGeom>
          <a:noFill/>
          <a:ln/>
        </p:spPr>
        <p:txBody>
          <a:bodyPr wrap="square" lIns="25400" tIns="25400" rIns="25400" bIns="25400" rtlCol="0" anchor="t">
            <a:normAutofit/>
          </a:bodyPr>
          <a:lstStyle/>
          <a:p>
            <a:pPr marL="0" indent="0" algn="l">
              <a:lnSpc>
                <a:spcPct val="145000"/>
              </a:lnSpc>
              <a:buNone/>
            </a:pPr>
            <a:r>
              <a:rPr lang="en-US" sz="1650" kern="0" spc="231" dirty="0">
                <a:solidFill>
                  <a:srgbClr val="8A8174"/>
                </a:solidFill>
                <a:latin typeface="Arial" pitchFamily="34" charset="0"/>
                <a:ea typeface="Arial" pitchFamily="34" charset="-122"/>
                <a:cs typeface="Arial" pitchFamily="34" charset="-120"/>
              </a:rPr>
              <a:t>— FACULTY PARTICIPANT</a:t>
            </a:r>
            <a:endParaRPr lang="en-US" sz="1650" dirty="0"/>
          </a:p>
        </p:txBody>
      </p:sp>
      <p:sp>
        <p:nvSpPr>
          <p:cNvPr id="22" name="Shape 20"/>
          <p:cNvSpPr/>
          <p:nvPr/>
        </p:nvSpPr>
        <p:spPr>
          <a:xfrm>
            <a:off x="1143000" y="9329738"/>
            <a:ext cx="16002000" cy="9525"/>
          </a:xfrm>
          <a:prstGeom prst="rect">
            <a:avLst/>
          </a:prstGeom>
          <a:solidFill>
            <a:srgbClr val="D9D1BF"/>
          </a:solidFill>
          <a:ln/>
        </p:spPr>
        <p:txBody>
          <a:bodyPr/>
          <a:lstStyle/>
          <a:p>
            <a:endParaRPr lang="nb-NO"/>
          </a:p>
        </p:txBody>
      </p:sp>
      <p:sp>
        <p:nvSpPr>
          <p:cNvPr id="23" name="Text 21"/>
          <p:cNvSpPr/>
          <p:nvPr/>
        </p:nvSpPr>
        <p:spPr>
          <a:xfrm>
            <a:off x="1143000" y="9548813"/>
            <a:ext cx="3620703"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8A8174"/>
                </a:solidFill>
                <a:latin typeface="Arial" pitchFamily="34" charset="0"/>
                <a:ea typeface="Arial" pitchFamily="34" charset="-122"/>
                <a:cs typeface="Arial" pitchFamily="34" charset="-120"/>
              </a:rPr>
              <a:t>SECTION 02 · DIAGNOSIS</a:t>
            </a:r>
            <a:endParaRPr lang="en-US" sz="1800" dirty="0"/>
          </a:p>
        </p:txBody>
      </p:sp>
      <p:sp>
        <p:nvSpPr>
          <p:cNvPr id="24" name="Text 22"/>
          <p:cNvSpPr/>
          <p:nvPr/>
        </p:nvSpPr>
        <p:spPr>
          <a:xfrm>
            <a:off x="16251287" y="9548813"/>
            <a:ext cx="969913"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4A423A"/>
                </a:solidFill>
                <a:latin typeface="Arial" pitchFamily="34" charset="0"/>
                <a:ea typeface="Arial" pitchFamily="34" charset="-122"/>
                <a:cs typeface="Arial" pitchFamily="34" charset="-120"/>
              </a:rPr>
              <a:t>07 / 11</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1143000" y="1007269"/>
            <a:ext cx="95250" cy="95250"/>
          </a:xfrm>
          <a:prstGeom prst="ellipse">
            <a:avLst/>
          </a:prstGeom>
          <a:solidFill>
            <a:srgbClr val="C96442"/>
          </a:solidFill>
          <a:ln/>
        </p:spPr>
        <p:txBody>
          <a:bodyPr/>
          <a:lstStyle/>
          <a:p>
            <a:endParaRPr lang="nb-NO"/>
          </a:p>
        </p:txBody>
      </p:sp>
      <p:sp>
        <p:nvSpPr>
          <p:cNvPr id="3" name="Text 1"/>
          <p:cNvSpPr/>
          <p:nvPr/>
        </p:nvSpPr>
        <p:spPr>
          <a:xfrm>
            <a:off x="1409700" y="914400"/>
            <a:ext cx="419100" cy="31908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1B16"/>
                </a:solidFill>
                <a:latin typeface="Arial" pitchFamily="34" charset="0"/>
                <a:ea typeface="Arial" pitchFamily="34" charset="-122"/>
                <a:cs typeface="Arial" pitchFamily="34" charset="-120"/>
              </a:rPr>
              <a:t>08</a:t>
            </a:r>
            <a:endParaRPr lang="en-US" sz="1800" dirty="0"/>
          </a:p>
        </p:txBody>
      </p:sp>
      <p:sp>
        <p:nvSpPr>
          <p:cNvPr id="4" name="Text 2"/>
          <p:cNvSpPr/>
          <p:nvPr/>
        </p:nvSpPr>
        <p:spPr>
          <a:xfrm>
            <a:off x="1924050" y="914400"/>
            <a:ext cx="5467194"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FINDINGS — WHERE SYSTEMS MEET</a:t>
            </a:r>
            <a:endParaRPr lang="en-US" sz="1800" dirty="0"/>
          </a:p>
        </p:txBody>
      </p:sp>
      <p:sp>
        <p:nvSpPr>
          <p:cNvPr id="5" name="Text 3"/>
          <p:cNvSpPr/>
          <p:nvPr/>
        </p:nvSpPr>
        <p:spPr>
          <a:xfrm>
            <a:off x="1143000" y="1462088"/>
            <a:ext cx="16482060" cy="678135"/>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96" dirty="0">
                <a:solidFill>
                  <a:srgbClr val="1F1B16"/>
                </a:solidFill>
                <a:latin typeface="Arial" pitchFamily="34" charset="0"/>
                <a:ea typeface="Arial" pitchFamily="34" charset="-122"/>
                <a:cs typeface="Arial" pitchFamily="34" charset="-120"/>
              </a:rPr>
              <a:t>A theory–practice gap, named by faculty themselves.</a:t>
            </a:r>
            <a:endParaRPr lang="en-US" sz="4800" dirty="0"/>
          </a:p>
        </p:txBody>
      </p:sp>
      <p:sp>
        <p:nvSpPr>
          <p:cNvPr id="6" name="Shape 4"/>
          <p:cNvSpPr/>
          <p:nvPr/>
        </p:nvSpPr>
        <p:spPr>
          <a:xfrm>
            <a:off x="1143000" y="2178323"/>
            <a:ext cx="5041181" cy="490538"/>
          </a:xfrm>
          <a:prstGeom prst="roundRect">
            <a:avLst>
              <a:gd name="adj" fmla="val 50000"/>
            </a:avLst>
          </a:prstGeom>
          <a:solidFill>
            <a:srgbClr val="EAE3D6"/>
          </a:solidFill>
          <a:ln w="9525">
            <a:solidFill>
              <a:srgbClr val="D9D1BF"/>
            </a:solidFill>
            <a:prstDash val="solid"/>
          </a:ln>
        </p:spPr>
        <p:txBody>
          <a:bodyPr/>
          <a:lstStyle/>
          <a:p>
            <a:endParaRPr lang="nb-NO"/>
          </a:p>
        </p:txBody>
      </p:sp>
      <p:sp>
        <p:nvSpPr>
          <p:cNvPr id="7" name="Text 5"/>
          <p:cNvSpPr/>
          <p:nvPr/>
        </p:nvSpPr>
        <p:spPr>
          <a:xfrm>
            <a:off x="1362075" y="2283098"/>
            <a:ext cx="4754266" cy="319088"/>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1F1B16"/>
                </a:solidFill>
                <a:latin typeface="Arial" pitchFamily="34" charset="0"/>
                <a:ea typeface="Arial" pitchFamily="34" charset="-122"/>
                <a:cs typeface="Arial" pitchFamily="34" charset="-120"/>
              </a:rPr>
              <a:t>INTERACTING ACTIVITY SYSTEMS</a:t>
            </a:r>
            <a:endParaRPr lang="en-US" sz="1800" dirty="0"/>
          </a:p>
        </p:txBody>
      </p:sp>
      <p:sp>
        <p:nvSpPr>
          <p:cNvPr id="8" name="Text 6"/>
          <p:cNvSpPr/>
          <p:nvPr/>
        </p:nvSpPr>
        <p:spPr>
          <a:xfrm>
            <a:off x="1143000" y="3316560"/>
            <a:ext cx="7848600" cy="319088"/>
          </a:xfrm>
          <a:prstGeom prst="rect">
            <a:avLst/>
          </a:prstGeom>
          <a:noFill/>
          <a:ln/>
        </p:spPr>
        <p:txBody>
          <a:bodyPr wrap="square" lIns="25400" tIns="25400" rIns="25400" bIns="25400" rtlCol="0" anchor="t">
            <a:normAutofit/>
          </a:bodyPr>
          <a:lstStyle/>
          <a:p>
            <a:pPr marL="0" indent="0" algn="l">
              <a:buNone/>
            </a:pPr>
            <a:r>
              <a:rPr lang="en-US" sz="1800" b="1" kern="0" spc="324" dirty="0">
                <a:solidFill>
                  <a:srgbClr val="C96442"/>
                </a:solidFill>
                <a:latin typeface="Arial" pitchFamily="34" charset="0"/>
                <a:ea typeface="Arial" pitchFamily="34" charset="-122"/>
                <a:cs typeface="Arial" pitchFamily="34" charset="-120"/>
              </a:rPr>
              <a:t>ADMINISTRATIVE ↔ PEDAGOGICAL</a:t>
            </a:r>
            <a:endParaRPr lang="en-US" sz="1800" dirty="0"/>
          </a:p>
        </p:txBody>
      </p:sp>
      <p:sp>
        <p:nvSpPr>
          <p:cNvPr id="9" name="Text 7"/>
          <p:cNvSpPr/>
          <p:nvPr/>
        </p:nvSpPr>
        <p:spPr>
          <a:xfrm>
            <a:off x="1143000" y="3768998"/>
            <a:ext cx="7848600" cy="960090"/>
          </a:xfrm>
          <a:prstGeom prst="rect">
            <a:avLst/>
          </a:prstGeom>
          <a:noFill/>
          <a:ln/>
        </p:spPr>
        <p:txBody>
          <a:bodyPr wrap="square" lIns="25400" tIns="25400" rIns="25400" bIns="25400" rtlCol="0" anchor="t">
            <a:normAutofit/>
          </a:bodyPr>
          <a:lstStyle/>
          <a:p>
            <a:pPr marL="0" indent="0" algn="l">
              <a:lnSpc>
                <a:spcPct val="110000"/>
              </a:lnSpc>
              <a:buNone/>
            </a:pPr>
            <a:r>
              <a:rPr lang="en-US" sz="3300" b="1" kern="0" spc="-49" dirty="0">
                <a:solidFill>
                  <a:srgbClr val="1F1B16"/>
                </a:solidFill>
                <a:latin typeface="Arial" pitchFamily="34" charset="0"/>
                <a:ea typeface="Arial" pitchFamily="34" charset="-122"/>
                <a:cs typeface="Arial" pitchFamily="34" charset="-120"/>
              </a:rPr>
              <a:t>Decisions made above the classroom collided with delivery inside it.</a:t>
            </a:r>
            <a:endParaRPr lang="en-US" sz="3300" dirty="0"/>
          </a:p>
        </p:txBody>
      </p:sp>
      <p:sp>
        <p:nvSpPr>
          <p:cNvPr id="10" name="Text 8"/>
          <p:cNvSpPr/>
          <p:nvPr/>
        </p:nvSpPr>
        <p:spPr>
          <a:xfrm>
            <a:off x="1143000" y="4938638"/>
            <a:ext cx="7848600" cy="1115244"/>
          </a:xfrm>
          <a:prstGeom prst="rect">
            <a:avLst/>
          </a:prstGeom>
          <a:noFill/>
          <a:ln/>
        </p:spPr>
        <p:txBody>
          <a:bodyPr wrap="square" lIns="25400" tIns="25400" rIns="25400" bIns="25400" rtlCol="0" anchor="t">
            <a:normAutofit/>
          </a:bodyPr>
          <a:lstStyle/>
          <a:p>
            <a:pPr marL="0" indent="0" algn="l">
              <a:lnSpc>
                <a:spcPct val="145000"/>
              </a:lnSpc>
              <a:buNone/>
            </a:pPr>
            <a:r>
              <a:rPr lang="en-US" sz="1950" kern="0" spc="-6" dirty="0">
                <a:solidFill>
                  <a:srgbClr val="4A423A"/>
                </a:solidFill>
                <a:latin typeface="Arial" pitchFamily="34" charset="0"/>
                <a:ea typeface="Arial" pitchFamily="34" charset="-122"/>
                <a:cs typeface="Arial" pitchFamily="34" charset="-120"/>
              </a:rPr>
              <a:t>Budget cuts removed planned guest lectures mid-course. Pedagogical frameworks were promoted institutionally without the structural support to implement them.</a:t>
            </a:r>
            <a:endParaRPr lang="en-US" sz="1950" dirty="0"/>
          </a:p>
        </p:txBody>
      </p:sp>
      <p:sp>
        <p:nvSpPr>
          <p:cNvPr id="11" name="Shape 9"/>
          <p:cNvSpPr/>
          <p:nvPr/>
        </p:nvSpPr>
        <p:spPr>
          <a:xfrm>
            <a:off x="1143000" y="6244382"/>
            <a:ext cx="19050" cy="1155278"/>
          </a:xfrm>
          <a:prstGeom prst="rect">
            <a:avLst/>
          </a:prstGeom>
          <a:solidFill>
            <a:srgbClr val="C96442"/>
          </a:solidFill>
          <a:ln/>
        </p:spPr>
        <p:txBody>
          <a:bodyPr/>
          <a:lstStyle/>
          <a:p>
            <a:endParaRPr lang="nb-NO"/>
          </a:p>
        </p:txBody>
      </p:sp>
      <p:sp>
        <p:nvSpPr>
          <p:cNvPr id="12" name="Text 10"/>
          <p:cNvSpPr/>
          <p:nvPr/>
        </p:nvSpPr>
        <p:spPr>
          <a:xfrm>
            <a:off x="1371600" y="6296769"/>
            <a:ext cx="6680814" cy="644798"/>
          </a:xfrm>
          <a:prstGeom prst="rect">
            <a:avLst/>
          </a:prstGeom>
          <a:noFill/>
          <a:ln/>
        </p:spPr>
        <p:txBody>
          <a:bodyPr wrap="square" lIns="0" tIns="0" rIns="0" bIns="0" rtlCol="0" anchor="t">
            <a:normAutofit/>
          </a:bodyPr>
          <a:lstStyle/>
          <a:p>
            <a:pPr marL="0" indent="0" algn="l">
              <a:lnSpc>
                <a:spcPct val="145000"/>
              </a:lnSpc>
              <a:buNone/>
            </a:pPr>
            <a:r>
              <a:rPr lang="en-US" sz="1950" i="1" kern="0" spc="-6" dirty="0">
                <a:solidFill>
                  <a:srgbClr val="4A423A"/>
                </a:solidFill>
                <a:latin typeface="Georgia" pitchFamily="34" charset="0"/>
                <a:ea typeface="Georgia" pitchFamily="34" charset="-122"/>
                <a:cs typeface="Georgia" pitchFamily="34" charset="-120"/>
              </a:rPr>
              <a:t>"There was a notable theory-practice gap … pedagogical ideals without sufficient structural or organizational support."</a:t>
            </a:r>
            <a:endParaRPr lang="en-US" sz="1950" dirty="0"/>
          </a:p>
        </p:txBody>
      </p:sp>
      <p:sp>
        <p:nvSpPr>
          <p:cNvPr id="13" name="Text 11"/>
          <p:cNvSpPr/>
          <p:nvPr/>
        </p:nvSpPr>
        <p:spPr>
          <a:xfrm>
            <a:off x="1371600" y="7095827"/>
            <a:ext cx="7613142" cy="341933"/>
          </a:xfrm>
          <a:prstGeom prst="rect">
            <a:avLst/>
          </a:prstGeom>
          <a:noFill/>
          <a:ln/>
        </p:spPr>
        <p:txBody>
          <a:bodyPr wrap="square" lIns="25400" tIns="25400" rIns="25400" bIns="25400" rtlCol="0" anchor="t">
            <a:normAutofit/>
          </a:bodyPr>
          <a:lstStyle/>
          <a:p>
            <a:pPr marL="0" indent="0" algn="l">
              <a:lnSpc>
                <a:spcPct val="145000"/>
              </a:lnSpc>
              <a:buNone/>
            </a:pPr>
            <a:r>
              <a:rPr lang="en-US" sz="1650" kern="0" spc="231" dirty="0">
                <a:solidFill>
                  <a:srgbClr val="8A8174"/>
                </a:solidFill>
                <a:latin typeface="Arial" pitchFamily="34" charset="0"/>
                <a:ea typeface="Arial" pitchFamily="34" charset="-122"/>
                <a:cs typeface="Arial" pitchFamily="34" charset="-120"/>
              </a:rPr>
              <a:t>— FROM THE ANALYSIS</a:t>
            </a:r>
            <a:endParaRPr lang="en-US" sz="1650" dirty="0"/>
          </a:p>
        </p:txBody>
      </p:sp>
      <p:sp>
        <p:nvSpPr>
          <p:cNvPr id="14" name="Text 12"/>
          <p:cNvSpPr/>
          <p:nvPr/>
        </p:nvSpPr>
        <p:spPr>
          <a:xfrm>
            <a:off x="9525000" y="3316560"/>
            <a:ext cx="7848600" cy="319088"/>
          </a:xfrm>
          <a:prstGeom prst="rect">
            <a:avLst/>
          </a:prstGeom>
          <a:noFill/>
          <a:ln/>
        </p:spPr>
        <p:txBody>
          <a:bodyPr wrap="square" lIns="25400" tIns="25400" rIns="25400" bIns="25400" rtlCol="0" anchor="t">
            <a:normAutofit/>
          </a:bodyPr>
          <a:lstStyle/>
          <a:p>
            <a:pPr marL="0" indent="0" algn="l">
              <a:buNone/>
            </a:pPr>
            <a:r>
              <a:rPr lang="en-US" sz="1800" b="1" kern="0" spc="324" dirty="0">
                <a:solidFill>
                  <a:srgbClr val="C96442"/>
                </a:solidFill>
                <a:latin typeface="Arial" pitchFamily="34" charset="0"/>
                <a:ea typeface="Arial" pitchFamily="34" charset="-122"/>
                <a:cs typeface="Arial" pitchFamily="34" charset="-120"/>
              </a:rPr>
              <a:t>DISCIPLINARY ↔ DISCIPLINARY</a:t>
            </a:r>
            <a:endParaRPr lang="en-US" sz="1800" dirty="0"/>
          </a:p>
        </p:txBody>
      </p:sp>
      <p:sp>
        <p:nvSpPr>
          <p:cNvPr id="15" name="Text 13"/>
          <p:cNvSpPr/>
          <p:nvPr/>
        </p:nvSpPr>
        <p:spPr>
          <a:xfrm>
            <a:off x="9525000" y="3768998"/>
            <a:ext cx="7848600" cy="1421085"/>
          </a:xfrm>
          <a:prstGeom prst="rect">
            <a:avLst/>
          </a:prstGeom>
          <a:noFill/>
          <a:ln/>
        </p:spPr>
        <p:txBody>
          <a:bodyPr wrap="square" lIns="25400" tIns="25400" rIns="25400" bIns="25400" rtlCol="0" anchor="t">
            <a:normAutofit/>
          </a:bodyPr>
          <a:lstStyle/>
          <a:p>
            <a:pPr marL="0" indent="0" algn="l">
              <a:lnSpc>
                <a:spcPct val="110000"/>
              </a:lnSpc>
              <a:buNone/>
            </a:pPr>
            <a:r>
              <a:rPr lang="en-US" sz="3300" b="1" kern="0" spc="-49" dirty="0">
                <a:solidFill>
                  <a:srgbClr val="1F1B16"/>
                </a:solidFill>
                <a:latin typeface="Arial" pitchFamily="34" charset="0"/>
                <a:ea typeface="Arial" pitchFamily="34" charset="-122"/>
                <a:cs typeface="Arial" pitchFamily="34" charset="-120"/>
              </a:rPr>
              <a:t>Different methodologies, different feedback cultures, no shared vocabulary yet.</a:t>
            </a:r>
            <a:endParaRPr lang="en-US" sz="3300" dirty="0"/>
          </a:p>
        </p:txBody>
      </p:sp>
      <p:sp>
        <p:nvSpPr>
          <p:cNvPr id="16" name="Text 14"/>
          <p:cNvSpPr/>
          <p:nvPr/>
        </p:nvSpPr>
        <p:spPr>
          <a:xfrm>
            <a:off x="9525000" y="5399633"/>
            <a:ext cx="7848600" cy="756196"/>
          </a:xfrm>
          <a:prstGeom prst="rect">
            <a:avLst/>
          </a:prstGeom>
          <a:noFill/>
          <a:ln/>
        </p:spPr>
        <p:txBody>
          <a:bodyPr wrap="square" lIns="25400" tIns="25400" rIns="25400" bIns="25400" rtlCol="0" anchor="t">
            <a:normAutofit/>
          </a:bodyPr>
          <a:lstStyle/>
          <a:p>
            <a:pPr marL="0" indent="0" algn="l">
              <a:lnSpc>
                <a:spcPct val="145000"/>
              </a:lnSpc>
              <a:buNone/>
            </a:pPr>
            <a:r>
              <a:rPr lang="en-US" sz="1950" kern="0" spc="-6" dirty="0">
                <a:solidFill>
                  <a:srgbClr val="4A423A"/>
                </a:solidFill>
                <a:latin typeface="Arial" pitchFamily="34" charset="0"/>
                <a:ea typeface="Arial" pitchFamily="34" charset="-122"/>
                <a:cs typeface="Arial" pitchFamily="34" charset="-120"/>
              </a:rPr>
              <a:t>Even adjacent disciplines reported needing time to learn each other's language and definitions before real collaboration could begin.</a:t>
            </a:r>
            <a:endParaRPr lang="en-US" sz="1950" dirty="0"/>
          </a:p>
        </p:txBody>
      </p:sp>
      <p:sp>
        <p:nvSpPr>
          <p:cNvPr id="17" name="Shape 15"/>
          <p:cNvSpPr/>
          <p:nvPr/>
        </p:nvSpPr>
        <p:spPr>
          <a:xfrm>
            <a:off x="9525000" y="6346329"/>
            <a:ext cx="19050" cy="1155278"/>
          </a:xfrm>
          <a:prstGeom prst="rect">
            <a:avLst/>
          </a:prstGeom>
          <a:solidFill>
            <a:srgbClr val="C96442"/>
          </a:solidFill>
          <a:ln/>
        </p:spPr>
        <p:txBody>
          <a:bodyPr/>
          <a:lstStyle/>
          <a:p>
            <a:endParaRPr lang="nb-NO"/>
          </a:p>
        </p:txBody>
      </p:sp>
      <p:sp>
        <p:nvSpPr>
          <p:cNvPr id="18" name="Text 16"/>
          <p:cNvSpPr/>
          <p:nvPr/>
        </p:nvSpPr>
        <p:spPr>
          <a:xfrm>
            <a:off x="9753600" y="6398716"/>
            <a:ext cx="7261488" cy="644798"/>
          </a:xfrm>
          <a:prstGeom prst="rect">
            <a:avLst/>
          </a:prstGeom>
          <a:noFill/>
          <a:ln/>
        </p:spPr>
        <p:txBody>
          <a:bodyPr wrap="square" lIns="0" tIns="0" rIns="0" bIns="0" rtlCol="0" anchor="t">
            <a:normAutofit/>
          </a:bodyPr>
          <a:lstStyle/>
          <a:p>
            <a:pPr marL="0" indent="0" algn="l">
              <a:lnSpc>
                <a:spcPct val="145000"/>
              </a:lnSpc>
              <a:buNone/>
            </a:pPr>
            <a:r>
              <a:rPr lang="en-US" sz="1950" i="1" kern="0" spc="-6" dirty="0">
                <a:solidFill>
                  <a:srgbClr val="4A423A"/>
                </a:solidFill>
                <a:latin typeface="Georgia" pitchFamily="34" charset="0"/>
                <a:ea typeface="Georgia" pitchFamily="34" charset="-122"/>
                <a:cs typeface="Georgia" pitchFamily="34" charset="-120"/>
              </a:rPr>
              <a:t>"Even if we're closely related discipline-wise, we're all apart when it comes to methodology and feedback."</a:t>
            </a:r>
            <a:endParaRPr lang="en-US" sz="1950" dirty="0"/>
          </a:p>
        </p:txBody>
      </p:sp>
      <p:sp>
        <p:nvSpPr>
          <p:cNvPr id="19" name="Text 17"/>
          <p:cNvSpPr/>
          <p:nvPr/>
        </p:nvSpPr>
        <p:spPr>
          <a:xfrm>
            <a:off x="9753600" y="7197775"/>
            <a:ext cx="7613142" cy="341933"/>
          </a:xfrm>
          <a:prstGeom prst="rect">
            <a:avLst/>
          </a:prstGeom>
          <a:noFill/>
          <a:ln/>
        </p:spPr>
        <p:txBody>
          <a:bodyPr wrap="square" lIns="25400" tIns="25400" rIns="25400" bIns="25400" rtlCol="0" anchor="t">
            <a:normAutofit/>
          </a:bodyPr>
          <a:lstStyle/>
          <a:p>
            <a:pPr marL="0" indent="0" algn="l">
              <a:lnSpc>
                <a:spcPct val="145000"/>
              </a:lnSpc>
              <a:buNone/>
            </a:pPr>
            <a:r>
              <a:rPr lang="en-US" sz="1650" kern="0" spc="231" dirty="0">
                <a:solidFill>
                  <a:srgbClr val="8A8174"/>
                </a:solidFill>
                <a:latin typeface="Arial" pitchFamily="34" charset="0"/>
                <a:ea typeface="Arial" pitchFamily="34" charset="-122"/>
                <a:cs typeface="Arial" pitchFamily="34" charset="-120"/>
              </a:rPr>
              <a:t>— FACULTY PARTICIPANT</a:t>
            </a:r>
            <a:endParaRPr lang="en-US" sz="1650" dirty="0"/>
          </a:p>
        </p:txBody>
      </p:sp>
      <p:sp>
        <p:nvSpPr>
          <p:cNvPr id="20" name="Shape 18"/>
          <p:cNvSpPr/>
          <p:nvPr/>
        </p:nvSpPr>
        <p:spPr>
          <a:xfrm>
            <a:off x="1143000" y="9329738"/>
            <a:ext cx="16002000" cy="9525"/>
          </a:xfrm>
          <a:prstGeom prst="rect">
            <a:avLst/>
          </a:prstGeom>
          <a:solidFill>
            <a:srgbClr val="D9D1BF"/>
          </a:solidFill>
          <a:ln/>
        </p:spPr>
        <p:txBody>
          <a:bodyPr/>
          <a:lstStyle/>
          <a:p>
            <a:endParaRPr lang="nb-NO"/>
          </a:p>
        </p:txBody>
      </p:sp>
      <p:sp>
        <p:nvSpPr>
          <p:cNvPr id="21" name="Text 19"/>
          <p:cNvSpPr/>
          <p:nvPr/>
        </p:nvSpPr>
        <p:spPr>
          <a:xfrm>
            <a:off x="1143000" y="9548813"/>
            <a:ext cx="3620703"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8A8174"/>
                </a:solidFill>
                <a:latin typeface="Arial" pitchFamily="34" charset="0"/>
                <a:ea typeface="Arial" pitchFamily="34" charset="-122"/>
                <a:cs typeface="Arial" pitchFamily="34" charset="-120"/>
              </a:rPr>
              <a:t>SECTION 02 · DIAGNOSIS</a:t>
            </a:r>
            <a:endParaRPr lang="en-US" sz="1800" dirty="0"/>
          </a:p>
        </p:txBody>
      </p:sp>
      <p:sp>
        <p:nvSpPr>
          <p:cNvPr id="22" name="Text 20"/>
          <p:cNvSpPr/>
          <p:nvPr/>
        </p:nvSpPr>
        <p:spPr>
          <a:xfrm>
            <a:off x="16233502" y="9548813"/>
            <a:ext cx="987698"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4A423A"/>
                </a:solidFill>
                <a:latin typeface="Arial" pitchFamily="34" charset="0"/>
                <a:ea typeface="Arial" pitchFamily="34" charset="-122"/>
                <a:cs typeface="Arial" pitchFamily="34" charset="-120"/>
              </a:rPr>
              <a:t>08 / 11</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B16"/>
        </a:solidFill>
        <a:effectLst/>
      </p:bgPr>
    </p:bg>
    <p:spTree>
      <p:nvGrpSpPr>
        <p:cNvPr id="1" name=""/>
        <p:cNvGrpSpPr/>
        <p:nvPr/>
      </p:nvGrpSpPr>
      <p:grpSpPr>
        <a:xfrm>
          <a:off x="0" y="0"/>
          <a:ext cx="0" cy="0"/>
          <a:chOff x="0" y="0"/>
          <a:chExt cx="0" cy="0"/>
        </a:xfrm>
      </p:grpSpPr>
      <p:sp>
        <p:nvSpPr>
          <p:cNvPr id="2" name="Shape 0"/>
          <p:cNvSpPr/>
          <p:nvPr/>
        </p:nvSpPr>
        <p:spPr>
          <a:xfrm>
            <a:off x="1143000" y="1007269"/>
            <a:ext cx="95250" cy="95250"/>
          </a:xfrm>
          <a:prstGeom prst="ellipse">
            <a:avLst/>
          </a:prstGeom>
          <a:solidFill>
            <a:srgbClr val="C96442"/>
          </a:solidFill>
          <a:ln/>
        </p:spPr>
        <p:txBody>
          <a:bodyPr/>
          <a:lstStyle/>
          <a:p>
            <a:endParaRPr lang="nb-NO"/>
          </a:p>
        </p:txBody>
      </p:sp>
      <p:sp>
        <p:nvSpPr>
          <p:cNvPr id="3" name="Text 1"/>
          <p:cNvSpPr/>
          <p:nvPr/>
        </p:nvSpPr>
        <p:spPr>
          <a:xfrm>
            <a:off x="1409700" y="914400"/>
            <a:ext cx="419026" cy="31908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F4F1EA"/>
                </a:solidFill>
                <a:latin typeface="Arial" pitchFamily="34" charset="0"/>
                <a:ea typeface="Arial" pitchFamily="34" charset="-122"/>
                <a:cs typeface="Arial" pitchFamily="34" charset="-120"/>
              </a:rPr>
              <a:t>09</a:t>
            </a:r>
            <a:endParaRPr lang="en-US" sz="1800" dirty="0"/>
          </a:p>
        </p:txBody>
      </p:sp>
      <p:sp>
        <p:nvSpPr>
          <p:cNvPr id="4" name="Text 2"/>
          <p:cNvSpPr/>
          <p:nvPr/>
        </p:nvSpPr>
        <p:spPr>
          <a:xfrm>
            <a:off x="1923976" y="914400"/>
            <a:ext cx="1741215"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F4F1EA">
                    <a:alpha val="55000"/>
                  </a:srgbClr>
                </a:solidFill>
                <a:latin typeface="Arial" pitchFamily="34" charset="0"/>
                <a:ea typeface="Arial" pitchFamily="34" charset="-122"/>
                <a:cs typeface="Arial" pitchFamily="34" charset="-120"/>
              </a:rPr>
              <a:t>SYNTHESIS</a:t>
            </a:r>
            <a:endParaRPr lang="en-US" sz="1800" dirty="0"/>
          </a:p>
        </p:txBody>
      </p:sp>
      <p:sp>
        <p:nvSpPr>
          <p:cNvPr id="5" name="Text 3"/>
          <p:cNvSpPr/>
          <p:nvPr/>
        </p:nvSpPr>
        <p:spPr>
          <a:xfrm>
            <a:off x="1143000" y="1728788"/>
            <a:ext cx="15697200" cy="2955057"/>
          </a:xfrm>
          <a:prstGeom prst="rect">
            <a:avLst/>
          </a:prstGeom>
          <a:noFill/>
          <a:ln/>
        </p:spPr>
        <p:txBody>
          <a:bodyPr wrap="square" lIns="25400" tIns="25400" rIns="25400" bIns="25400" rtlCol="0" anchor="t">
            <a:normAutofit/>
          </a:bodyPr>
          <a:lstStyle/>
          <a:p>
            <a:pPr marL="0" indent="0" algn="l">
              <a:lnSpc>
                <a:spcPct val="102000"/>
              </a:lnSpc>
              <a:buNone/>
            </a:pPr>
            <a:r>
              <a:rPr lang="en-US" sz="7200" b="1" kern="0" spc="-180" dirty="0">
                <a:solidFill>
                  <a:srgbClr val="F4F1EA"/>
                </a:solidFill>
                <a:latin typeface="Arial" pitchFamily="34" charset="0"/>
                <a:ea typeface="Arial" pitchFamily="34" charset="-122"/>
                <a:cs typeface="Arial" pitchFamily="34" charset="-120"/>
              </a:rPr>
              <a:t>The same friction that </a:t>
            </a:r>
            <a:r>
              <a:rPr lang="en-US" sz="7200" i="1" kern="0" spc="-180" dirty="0">
                <a:solidFill>
                  <a:srgbClr val="E8B59C"/>
                </a:solidFill>
                <a:latin typeface="Georgia" pitchFamily="34" charset="0"/>
                <a:ea typeface="Georgia" pitchFamily="34" charset="-122"/>
                <a:cs typeface="Georgia" pitchFamily="34" charset="-120"/>
              </a:rPr>
              <a:t>frustrated </a:t>
            </a:r>
            <a:r>
              <a:rPr lang="en-US" sz="7200" b="1" kern="0" spc="-180" dirty="0">
                <a:solidFill>
                  <a:srgbClr val="F4F1EA"/>
                </a:solidFill>
                <a:latin typeface="Arial" pitchFamily="34" charset="0"/>
                <a:ea typeface="Arial" pitchFamily="34" charset="-122"/>
                <a:cs typeface="Arial" pitchFamily="34" charset="-120"/>
              </a:rPr>
              <a:t>you also produced what you were proud of.</a:t>
            </a:r>
            <a:endParaRPr lang="en-US" sz="7200" dirty="0"/>
          </a:p>
        </p:txBody>
      </p:sp>
      <p:sp>
        <p:nvSpPr>
          <p:cNvPr id="6" name="Shape 4"/>
          <p:cNvSpPr/>
          <p:nvPr/>
        </p:nvSpPr>
        <p:spPr>
          <a:xfrm>
            <a:off x="1143000" y="5445844"/>
            <a:ext cx="16002000" cy="9525"/>
          </a:xfrm>
          <a:prstGeom prst="rect">
            <a:avLst/>
          </a:prstGeom>
          <a:solidFill>
            <a:srgbClr val="F4F1EA">
              <a:alpha val="18000"/>
            </a:srgbClr>
          </a:solidFill>
          <a:ln/>
        </p:spPr>
        <p:txBody>
          <a:bodyPr/>
          <a:lstStyle/>
          <a:p>
            <a:endParaRPr lang="nb-NO"/>
          </a:p>
        </p:txBody>
      </p:sp>
      <p:sp>
        <p:nvSpPr>
          <p:cNvPr id="7" name="Text 5"/>
          <p:cNvSpPr/>
          <p:nvPr/>
        </p:nvSpPr>
        <p:spPr>
          <a:xfrm>
            <a:off x="1143000" y="5912569"/>
            <a:ext cx="7770114" cy="319088"/>
          </a:xfrm>
          <a:prstGeom prst="rect">
            <a:avLst/>
          </a:prstGeom>
          <a:noFill/>
          <a:ln/>
        </p:spPr>
        <p:txBody>
          <a:bodyPr wrap="square" lIns="25400" tIns="25400" rIns="25400" bIns="25400" rtlCol="0" anchor="t">
            <a:normAutofit/>
          </a:bodyPr>
          <a:lstStyle/>
          <a:p>
            <a:pPr marL="0" indent="0" algn="l">
              <a:buNone/>
            </a:pPr>
            <a:r>
              <a:rPr lang="en-US" sz="1800" b="1" kern="0" spc="360" dirty="0">
                <a:solidFill>
                  <a:srgbClr val="E8B59C"/>
                </a:solidFill>
                <a:latin typeface="Arial" pitchFamily="34" charset="0"/>
                <a:ea typeface="Arial" pitchFamily="34" charset="-122"/>
                <a:cs typeface="Arial" pitchFamily="34" charset="-120"/>
              </a:rPr>
              <a:t>UNPRODUCTIVE FRICTION</a:t>
            </a:r>
            <a:endParaRPr lang="en-US" sz="1800" dirty="0"/>
          </a:p>
        </p:txBody>
      </p:sp>
      <p:sp>
        <p:nvSpPr>
          <p:cNvPr id="8" name="Text 6"/>
          <p:cNvSpPr/>
          <p:nvPr/>
        </p:nvSpPr>
        <p:spPr>
          <a:xfrm>
            <a:off x="1143000" y="6365007"/>
            <a:ext cx="7770114" cy="1281113"/>
          </a:xfrm>
          <a:prstGeom prst="rect">
            <a:avLst/>
          </a:prstGeom>
          <a:noFill/>
          <a:ln/>
        </p:spPr>
        <p:txBody>
          <a:bodyPr wrap="square" lIns="25400" tIns="25400" rIns="25400" bIns="25400" rtlCol="0" anchor="t">
            <a:normAutofit/>
          </a:bodyPr>
          <a:lstStyle/>
          <a:p>
            <a:pPr marL="0" indent="0" algn="l">
              <a:lnSpc>
                <a:spcPct val="145000"/>
              </a:lnSpc>
              <a:buNone/>
            </a:pPr>
            <a:r>
              <a:rPr lang="en-US" sz="2250" kern="0" spc="-6" dirty="0">
                <a:solidFill>
                  <a:srgbClr val="F4F1EA">
                    <a:alpha val="85000"/>
                  </a:srgbClr>
                </a:solidFill>
                <a:latin typeface="Arial" pitchFamily="34" charset="0"/>
                <a:ea typeface="Arial" pitchFamily="34" charset="-122"/>
                <a:cs typeface="Arial" pitchFamily="34" charset="-120"/>
              </a:rPr>
              <a:t>Role ambiguity. Communication overload. Last-minute improvisation. Unequal workloads. A weakened sense of unified community.</a:t>
            </a:r>
            <a:endParaRPr lang="en-US" sz="2250" dirty="0"/>
          </a:p>
        </p:txBody>
      </p:sp>
      <p:sp>
        <p:nvSpPr>
          <p:cNvPr id="9" name="Text 7"/>
          <p:cNvSpPr/>
          <p:nvPr/>
        </p:nvSpPr>
        <p:spPr>
          <a:xfrm>
            <a:off x="9601200" y="5912569"/>
            <a:ext cx="7770114" cy="319088"/>
          </a:xfrm>
          <a:prstGeom prst="rect">
            <a:avLst/>
          </a:prstGeom>
          <a:noFill/>
          <a:ln/>
        </p:spPr>
        <p:txBody>
          <a:bodyPr wrap="square" lIns="25400" tIns="25400" rIns="25400" bIns="25400" rtlCol="0" anchor="t">
            <a:normAutofit/>
          </a:bodyPr>
          <a:lstStyle/>
          <a:p>
            <a:pPr marL="0" indent="0" algn="l">
              <a:buNone/>
            </a:pPr>
            <a:r>
              <a:rPr lang="en-US" sz="1800" b="1" kern="0" spc="360" dirty="0">
                <a:solidFill>
                  <a:srgbClr val="E8B59C"/>
                </a:solidFill>
                <a:latin typeface="Arial" pitchFamily="34" charset="0"/>
                <a:ea typeface="Arial" pitchFamily="34" charset="-122"/>
                <a:cs typeface="Arial" pitchFamily="34" charset="-120"/>
              </a:rPr>
              <a:t>PRODUCTIVE FRICTION</a:t>
            </a:r>
            <a:endParaRPr lang="en-US" sz="1800" dirty="0"/>
          </a:p>
        </p:txBody>
      </p:sp>
      <p:sp>
        <p:nvSpPr>
          <p:cNvPr id="10" name="Text 8"/>
          <p:cNvSpPr/>
          <p:nvPr/>
        </p:nvSpPr>
        <p:spPr>
          <a:xfrm>
            <a:off x="9601200" y="6365007"/>
            <a:ext cx="7770114" cy="1695450"/>
          </a:xfrm>
          <a:prstGeom prst="rect">
            <a:avLst/>
          </a:prstGeom>
          <a:noFill/>
          <a:ln/>
        </p:spPr>
        <p:txBody>
          <a:bodyPr wrap="square" lIns="25400" tIns="25400" rIns="25400" bIns="25400" rtlCol="0" anchor="t">
            <a:normAutofit/>
          </a:bodyPr>
          <a:lstStyle/>
          <a:p>
            <a:pPr marL="0" indent="0" algn="l">
              <a:lnSpc>
                <a:spcPct val="145000"/>
              </a:lnSpc>
              <a:buNone/>
            </a:pPr>
            <a:r>
              <a:rPr lang="en-US" sz="2250" kern="0" spc="-6" dirty="0">
                <a:solidFill>
                  <a:srgbClr val="F4F1EA">
                    <a:alpha val="85000"/>
                  </a:srgbClr>
                </a:solidFill>
                <a:latin typeface="Arial" pitchFamily="34" charset="0"/>
                <a:ea typeface="Arial" pitchFamily="34" charset="-122"/>
                <a:cs typeface="Arial" pitchFamily="34" charset="-120"/>
              </a:rPr>
              <a:t>Self-organization. Negotiated roles. Cross-disciplinary translation. Student projects nobody had specified — including, by your own accounts, genuinely impressive work.</a:t>
            </a:r>
            <a:endParaRPr lang="en-US" sz="2250" dirty="0"/>
          </a:p>
        </p:txBody>
      </p:sp>
      <p:sp>
        <p:nvSpPr>
          <p:cNvPr id="11" name="Shape 9"/>
          <p:cNvSpPr/>
          <p:nvPr/>
        </p:nvSpPr>
        <p:spPr>
          <a:xfrm>
            <a:off x="1143000" y="9329738"/>
            <a:ext cx="16002000" cy="9525"/>
          </a:xfrm>
          <a:prstGeom prst="rect">
            <a:avLst/>
          </a:prstGeom>
          <a:solidFill>
            <a:srgbClr val="F4F1EA">
              <a:alpha val="18000"/>
            </a:srgbClr>
          </a:solidFill>
          <a:ln/>
        </p:spPr>
        <p:txBody>
          <a:bodyPr/>
          <a:lstStyle/>
          <a:p>
            <a:endParaRPr lang="nb-NO"/>
          </a:p>
        </p:txBody>
      </p:sp>
      <p:sp>
        <p:nvSpPr>
          <p:cNvPr id="12" name="Text 10"/>
          <p:cNvSpPr/>
          <p:nvPr/>
        </p:nvSpPr>
        <p:spPr>
          <a:xfrm>
            <a:off x="1143000" y="9548813"/>
            <a:ext cx="4543220"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4F1EA">
                    <a:alpha val="50000"/>
                  </a:srgbClr>
                </a:solidFill>
                <a:latin typeface="Arial" pitchFamily="34" charset="0"/>
                <a:ea typeface="Arial" pitchFamily="34" charset="-122"/>
                <a:cs typeface="Arial" pitchFamily="34" charset="-120"/>
              </a:rPr>
              <a:t>THE COLLABORATION PARADOX</a:t>
            </a:r>
            <a:endParaRPr lang="en-US" sz="1800" dirty="0"/>
          </a:p>
        </p:txBody>
      </p:sp>
      <p:sp>
        <p:nvSpPr>
          <p:cNvPr id="13" name="Text 11"/>
          <p:cNvSpPr/>
          <p:nvPr/>
        </p:nvSpPr>
        <p:spPr>
          <a:xfrm>
            <a:off x="16233353" y="9548813"/>
            <a:ext cx="987847"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4F1EA">
                    <a:alpha val="70000"/>
                  </a:srgbClr>
                </a:solidFill>
                <a:latin typeface="Arial" pitchFamily="34" charset="0"/>
                <a:ea typeface="Arial" pitchFamily="34" charset="-122"/>
                <a:cs typeface="Arial" pitchFamily="34" charset="-120"/>
              </a:rPr>
              <a:t>09 / 11</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1143000" y="1007269"/>
            <a:ext cx="95250" cy="95250"/>
          </a:xfrm>
          <a:prstGeom prst="ellipse">
            <a:avLst/>
          </a:prstGeom>
          <a:solidFill>
            <a:srgbClr val="C96442"/>
          </a:solidFill>
          <a:ln/>
        </p:spPr>
        <p:txBody>
          <a:bodyPr/>
          <a:lstStyle/>
          <a:p>
            <a:endParaRPr lang="nb-NO"/>
          </a:p>
        </p:txBody>
      </p:sp>
      <p:sp>
        <p:nvSpPr>
          <p:cNvPr id="3" name="Text 1"/>
          <p:cNvSpPr/>
          <p:nvPr/>
        </p:nvSpPr>
        <p:spPr>
          <a:xfrm>
            <a:off x="1409700" y="914400"/>
            <a:ext cx="369466" cy="319088"/>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1F1B16"/>
                </a:solidFill>
                <a:latin typeface="Arial" pitchFamily="34" charset="0"/>
                <a:ea typeface="Arial" pitchFamily="34" charset="-122"/>
                <a:cs typeface="Arial" pitchFamily="34" charset="-120"/>
              </a:rPr>
              <a:t>10</a:t>
            </a:r>
            <a:endParaRPr lang="en-US" sz="1800" dirty="0"/>
          </a:p>
        </p:txBody>
      </p:sp>
      <p:sp>
        <p:nvSpPr>
          <p:cNvPr id="4" name="Text 2"/>
          <p:cNvSpPr/>
          <p:nvPr/>
        </p:nvSpPr>
        <p:spPr>
          <a:xfrm>
            <a:off x="1874416" y="914400"/>
            <a:ext cx="3069998" cy="319088"/>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RECOMMENDATIONS</a:t>
            </a:r>
            <a:endParaRPr lang="en-US" sz="1800" dirty="0"/>
          </a:p>
        </p:txBody>
      </p:sp>
      <p:sp>
        <p:nvSpPr>
          <p:cNvPr id="5" name="Text 3"/>
          <p:cNvSpPr/>
          <p:nvPr/>
        </p:nvSpPr>
        <p:spPr>
          <a:xfrm>
            <a:off x="1143000" y="1462088"/>
            <a:ext cx="16482060" cy="1318171"/>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96" dirty="0">
                <a:solidFill>
                  <a:srgbClr val="1F1B16"/>
                </a:solidFill>
                <a:latin typeface="Arial" pitchFamily="34" charset="0"/>
                <a:ea typeface="Arial" pitchFamily="34" charset="-122"/>
                <a:cs typeface="Arial" pitchFamily="34" charset="-120"/>
              </a:rPr>
              <a:t>Remove the friction that wastes you. Keep the friction that teaches.</a:t>
            </a:r>
            <a:endParaRPr lang="en-US" sz="4800" dirty="0"/>
          </a:p>
        </p:txBody>
      </p:sp>
      <p:sp>
        <p:nvSpPr>
          <p:cNvPr id="6" name="Text 4"/>
          <p:cNvSpPr/>
          <p:nvPr/>
        </p:nvSpPr>
        <p:spPr>
          <a:xfrm>
            <a:off x="1143000" y="3275558"/>
            <a:ext cx="555501" cy="758130"/>
          </a:xfrm>
          <a:prstGeom prst="rect">
            <a:avLst/>
          </a:prstGeom>
          <a:noFill/>
          <a:ln/>
        </p:spPr>
        <p:txBody>
          <a:bodyPr wrap="square" lIns="25400" tIns="25400" rIns="25400" bIns="25400" rtlCol="0" anchor="t">
            <a:normAutofit/>
          </a:bodyPr>
          <a:lstStyle/>
          <a:p>
            <a:pPr marL="0" indent="0" algn="l">
              <a:lnSpc>
                <a:spcPct val="90000"/>
              </a:lnSpc>
              <a:buNone/>
            </a:pPr>
            <a:r>
              <a:rPr lang="en-US" sz="6300" i="1" kern="0" spc="-6" dirty="0">
                <a:solidFill>
                  <a:srgbClr val="C96442"/>
                </a:solidFill>
                <a:latin typeface="Georgia" pitchFamily="34" charset="0"/>
                <a:ea typeface="Georgia" pitchFamily="34" charset="-122"/>
                <a:cs typeface="Georgia" pitchFamily="34" charset="-120"/>
              </a:rPr>
              <a:t>1</a:t>
            </a:r>
            <a:endParaRPr lang="en-US" sz="6300" dirty="0"/>
          </a:p>
        </p:txBody>
      </p:sp>
      <p:sp>
        <p:nvSpPr>
          <p:cNvPr id="7" name="Text 5"/>
          <p:cNvSpPr/>
          <p:nvPr/>
        </p:nvSpPr>
        <p:spPr>
          <a:xfrm>
            <a:off x="1965201" y="3275558"/>
            <a:ext cx="7001733" cy="410468"/>
          </a:xfrm>
          <a:prstGeom prst="rect">
            <a:avLst/>
          </a:prstGeom>
          <a:noFill/>
          <a:ln/>
        </p:spPr>
        <p:txBody>
          <a:bodyPr wrap="square" lIns="25400" tIns="25400" rIns="25400" bIns="25400" rtlCol="0" anchor="t">
            <a:normAutofit/>
          </a:bodyPr>
          <a:lstStyle/>
          <a:p>
            <a:pPr marL="0" indent="0" algn="l">
              <a:lnSpc>
                <a:spcPct val="115000"/>
              </a:lnSpc>
              <a:buNone/>
            </a:pPr>
            <a:r>
              <a:rPr lang="en-US" sz="2550" b="1" kern="0" spc="-25" dirty="0">
                <a:solidFill>
                  <a:srgbClr val="1F1B16"/>
                </a:solidFill>
                <a:latin typeface="Arial" pitchFamily="34" charset="0"/>
                <a:ea typeface="Arial" pitchFamily="34" charset="-122"/>
                <a:cs typeface="Arial" pitchFamily="34" charset="-120"/>
              </a:rPr>
              <a:t>Define roles before launch.</a:t>
            </a:r>
            <a:endParaRPr lang="en-US" sz="2550" dirty="0"/>
          </a:p>
        </p:txBody>
      </p:sp>
      <p:sp>
        <p:nvSpPr>
          <p:cNvPr id="8" name="Text 6"/>
          <p:cNvSpPr/>
          <p:nvPr/>
        </p:nvSpPr>
        <p:spPr>
          <a:xfrm>
            <a:off x="1965201" y="3781276"/>
            <a:ext cx="7001733" cy="700980"/>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6" dirty="0">
                <a:solidFill>
                  <a:srgbClr val="4A423A"/>
                </a:solidFill>
                <a:latin typeface="Arial" pitchFamily="34" charset="0"/>
                <a:ea typeface="Arial" pitchFamily="34" charset="-122"/>
                <a:cs typeface="Arial" pitchFamily="34" charset="-120"/>
              </a:rPr>
              <a:t>In writing, with hours and scope. Role ambiguity was the most direct cause of frustration and burnout.</a:t>
            </a:r>
            <a:endParaRPr lang="en-US" sz="1800" dirty="0"/>
          </a:p>
        </p:txBody>
      </p:sp>
      <p:sp>
        <p:nvSpPr>
          <p:cNvPr id="9" name="Text 7"/>
          <p:cNvSpPr/>
          <p:nvPr/>
        </p:nvSpPr>
        <p:spPr>
          <a:xfrm>
            <a:off x="9525000" y="3275558"/>
            <a:ext cx="555501" cy="758130"/>
          </a:xfrm>
          <a:prstGeom prst="rect">
            <a:avLst/>
          </a:prstGeom>
          <a:noFill/>
          <a:ln/>
        </p:spPr>
        <p:txBody>
          <a:bodyPr wrap="square" lIns="25400" tIns="25400" rIns="25400" bIns="25400" rtlCol="0" anchor="t">
            <a:normAutofit/>
          </a:bodyPr>
          <a:lstStyle/>
          <a:p>
            <a:pPr marL="0" indent="0" algn="l">
              <a:lnSpc>
                <a:spcPct val="90000"/>
              </a:lnSpc>
              <a:buNone/>
            </a:pPr>
            <a:r>
              <a:rPr lang="en-US" sz="6300" i="1" kern="0" spc="-6" dirty="0">
                <a:solidFill>
                  <a:srgbClr val="C96442"/>
                </a:solidFill>
                <a:latin typeface="Georgia" pitchFamily="34" charset="0"/>
                <a:ea typeface="Georgia" pitchFamily="34" charset="-122"/>
                <a:cs typeface="Georgia" pitchFamily="34" charset="-120"/>
              </a:rPr>
              <a:t>2</a:t>
            </a:r>
            <a:endParaRPr lang="en-US" sz="6300" dirty="0"/>
          </a:p>
        </p:txBody>
      </p:sp>
      <p:sp>
        <p:nvSpPr>
          <p:cNvPr id="10" name="Text 8"/>
          <p:cNvSpPr/>
          <p:nvPr/>
        </p:nvSpPr>
        <p:spPr>
          <a:xfrm>
            <a:off x="10347201" y="3275558"/>
            <a:ext cx="7001733" cy="782836"/>
          </a:xfrm>
          <a:prstGeom prst="rect">
            <a:avLst/>
          </a:prstGeom>
          <a:noFill/>
          <a:ln/>
        </p:spPr>
        <p:txBody>
          <a:bodyPr wrap="square" lIns="25400" tIns="25400" rIns="25400" bIns="25400" rtlCol="0" anchor="t">
            <a:normAutofit/>
          </a:bodyPr>
          <a:lstStyle/>
          <a:p>
            <a:pPr marL="0" indent="0" algn="l">
              <a:lnSpc>
                <a:spcPct val="115000"/>
              </a:lnSpc>
              <a:buNone/>
            </a:pPr>
            <a:r>
              <a:rPr lang="en-US" sz="2550" b="1" kern="0" spc="-25" dirty="0">
                <a:solidFill>
                  <a:srgbClr val="1F1B16"/>
                </a:solidFill>
                <a:latin typeface="Arial" pitchFamily="34" charset="0"/>
                <a:ea typeface="Arial" pitchFamily="34" charset="-122"/>
                <a:cs typeface="Arial" pitchFamily="34" charset="-120"/>
              </a:rPr>
              <a:t>One channel for course-wide communication.</a:t>
            </a:r>
            <a:endParaRPr lang="en-US" sz="2550" dirty="0"/>
          </a:p>
        </p:txBody>
      </p:sp>
      <p:sp>
        <p:nvSpPr>
          <p:cNvPr id="11" name="Text 9"/>
          <p:cNvSpPr/>
          <p:nvPr/>
        </p:nvSpPr>
        <p:spPr>
          <a:xfrm>
            <a:off x="10347201" y="4153644"/>
            <a:ext cx="7001733" cy="700980"/>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6" dirty="0">
                <a:solidFill>
                  <a:srgbClr val="4A423A"/>
                </a:solidFill>
                <a:latin typeface="Arial" pitchFamily="34" charset="0"/>
                <a:ea typeface="Arial" pitchFamily="34" charset="-122"/>
                <a:cs typeface="Arial" pitchFamily="34" charset="-120"/>
              </a:rPr>
              <a:t>Pick it, protect it, and stop the scatter across Teams, email, and side-channels.</a:t>
            </a:r>
            <a:endParaRPr lang="en-US" sz="1800" dirty="0"/>
          </a:p>
        </p:txBody>
      </p:sp>
      <p:sp>
        <p:nvSpPr>
          <p:cNvPr id="12" name="Text 10"/>
          <p:cNvSpPr/>
          <p:nvPr/>
        </p:nvSpPr>
        <p:spPr>
          <a:xfrm>
            <a:off x="1143000" y="5426125"/>
            <a:ext cx="555501" cy="758130"/>
          </a:xfrm>
          <a:prstGeom prst="rect">
            <a:avLst/>
          </a:prstGeom>
          <a:noFill/>
          <a:ln/>
        </p:spPr>
        <p:txBody>
          <a:bodyPr wrap="square" lIns="25400" tIns="25400" rIns="25400" bIns="25400" rtlCol="0" anchor="t">
            <a:normAutofit/>
          </a:bodyPr>
          <a:lstStyle/>
          <a:p>
            <a:pPr marL="0" indent="0" algn="l">
              <a:lnSpc>
                <a:spcPct val="90000"/>
              </a:lnSpc>
              <a:buNone/>
            </a:pPr>
            <a:r>
              <a:rPr lang="en-US" sz="6300" i="1" kern="0" spc="-6" dirty="0">
                <a:solidFill>
                  <a:srgbClr val="C96442"/>
                </a:solidFill>
                <a:latin typeface="Georgia" pitchFamily="34" charset="0"/>
                <a:ea typeface="Georgia" pitchFamily="34" charset="-122"/>
                <a:cs typeface="Georgia" pitchFamily="34" charset="-120"/>
              </a:rPr>
              <a:t>3</a:t>
            </a:r>
            <a:endParaRPr lang="en-US" sz="6300" dirty="0"/>
          </a:p>
        </p:txBody>
      </p:sp>
      <p:sp>
        <p:nvSpPr>
          <p:cNvPr id="13" name="Text 11"/>
          <p:cNvSpPr/>
          <p:nvPr/>
        </p:nvSpPr>
        <p:spPr>
          <a:xfrm>
            <a:off x="1965201" y="5426125"/>
            <a:ext cx="7001733" cy="410468"/>
          </a:xfrm>
          <a:prstGeom prst="rect">
            <a:avLst/>
          </a:prstGeom>
          <a:noFill/>
          <a:ln/>
        </p:spPr>
        <p:txBody>
          <a:bodyPr wrap="square" lIns="25400" tIns="25400" rIns="25400" bIns="25400" rtlCol="0" anchor="t">
            <a:normAutofit/>
          </a:bodyPr>
          <a:lstStyle/>
          <a:p>
            <a:pPr marL="0" indent="0" algn="l">
              <a:lnSpc>
                <a:spcPct val="115000"/>
              </a:lnSpc>
              <a:buNone/>
            </a:pPr>
            <a:r>
              <a:rPr lang="en-US" sz="2550" b="1" kern="0" spc="-25" dirty="0">
                <a:solidFill>
                  <a:srgbClr val="1F1B16"/>
                </a:solidFill>
                <a:latin typeface="Arial" pitchFamily="34" charset="0"/>
                <a:ea typeface="Arial" pitchFamily="34" charset="-122"/>
                <a:cs typeface="Arial" pitchFamily="34" charset="-120"/>
              </a:rPr>
              <a:t>A formal community of practice for faculty.</a:t>
            </a:r>
            <a:endParaRPr lang="en-US" sz="2550" dirty="0"/>
          </a:p>
        </p:txBody>
      </p:sp>
      <p:sp>
        <p:nvSpPr>
          <p:cNvPr id="14" name="Text 12"/>
          <p:cNvSpPr/>
          <p:nvPr/>
        </p:nvSpPr>
        <p:spPr>
          <a:xfrm>
            <a:off x="1965201" y="5931843"/>
            <a:ext cx="7001733" cy="700980"/>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6" dirty="0">
                <a:solidFill>
                  <a:srgbClr val="4A423A"/>
                </a:solidFill>
                <a:latin typeface="Arial" pitchFamily="34" charset="0"/>
                <a:ea typeface="Arial" pitchFamily="34" charset="-122"/>
                <a:cs typeface="Arial" pitchFamily="34" charset="-120"/>
              </a:rPr>
              <a:t>Give the lunch-table conversations a scheduled home. Don't leave coordination to chance.</a:t>
            </a:r>
            <a:endParaRPr lang="en-US" sz="1800" dirty="0"/>
          </a:p>
        </p:txBody>
      </p:sp>
      <p:sp>
        <p:nvSpPr>
          <p:cNvPr id="15" name="Text 13"/>
          <p:cNvSpPr/>
          <p:nvPr/>
        </p:nvSpPr>
        <p:spPr>
          <a:xfrm>
            <a:off x="9525000" y="5426125"/>
            <a:ext cx="555501" cy="758130"/>
          </a:xfrm>
          <a:prstGeom prst="rect">
            <a:avLst/>
          </a:prstGeom>
          <a:noFill/>
          <a:ln/>
        </p:spPr>
        <p:txBody>
          <a:bodyPr wrap="square" lIns="25400" tIns="25400" rIns="25400" bIns="25400" rtlCol="0" anchor="t">
            <a:normAutofit/>
          </a:bodyPr>
          <a:lstStyle/>
          <a:p>
            <a:pPr marL="0" indent="0" algn="l">
              <a:lnSpc>
                <a:spcPct val="90000"/>
              </a:lnSpc>
              <a:buNone/>
            </a:pPr>
            <a:r>
              <a:rPr lang="en-US" sz="6300" i="1" kern="0" spc="-6" dirty="0">
                <a:solidFill>
                  <a:srgbClr val="C96442"/>
                </a:solidFill>
                <a:latin typeface="Georgia" pitchFamily="34" charset="0"/>
                <a:ea typeface="Georgia" pitchFamily="34" charset="-122"/>
                <a:cs typeface="Georgia" pitchFamily="34" charset="-120"/>
              </a:rPr>
              <a:t>4</a:t>
            </a:r>
            <a:endParaRPr lang="en-US" sz="6300" dirty="0"/>
          </a:p>
        </p:txBody>
      </p:sp>
      <p:sp>
        <p:nvSpPr>
          <p:cNvPr id="16" name="Text 14"/>
          <p:cNvSpPr/>
          <p:nvPr/>
        </p:nvSpPr>
        <p:spPr>
          <a:xfrm>
            <a:off x="10347201" y="5426125"/>
            <a:ext cx="7001733" cy="782836"/>
          </a:xfrm>
          <a:prstGeom prst="rect">
            <a:avLst/>
          </a:prstGeom>
          <a:noFill/>
          <a:ln/>
        </p:spPr>
        <p:txBody>
          <a:bodyPr wrap="square" lIns="25400" tIns="25400" rIns="25400" bIns="25400" rtlCol="0" anchor="t">
            <a:normAutofit/>
          </a:bodyPr>
          <a:lstStyle/>
          <a:p>
            <a:pPr marL="0" indent="0" algn="l">
              <a:lnSpc>
                <a:spcPct val="115000"/>
              </a:lnSpc>
              <a:buNone/>
            </a:pPr>
            <a:r>
              <a:rPr lang="en-US" sz="2550" b="1" kern="0" spc="-25" dirty="0">
                <a:solidFill>
                  <a:srgbClr val="1F1B16"/>
                </a:solidFill>
                <a:latin typeface="Arial" pitchFamily="34" charset="0"/>
                <a:ea typeface="Arial" pitchFamily="34" charset="-122"/>
                <a:cs typeface="Arial" pitchFamily="34" charset="-120"/>
              </a:rPr>
              <a:t>Align the institutional layer with the teaching layer.</a:t>
            </a:r>
            <a:endParaRPr lang="en-US" sz="2550" dirty="0"/>
          </a:p>
        </p:txBody>
      </p:sp>
      <p:sp>
        <p:nvSpPr>
          <p:cNvPr id="17" name="Text 15"/>
          <p:cNvSpPr/>
          <p:nvPr/>
        </p:nvSpPr>
        <p:spPr>
          <a:xfrm>
            <a:off x="10347201" y="6304211"/>
            <a:ext cx="7001733" cy="700980"/>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6" dirty="0">
                <a:solidFill>
                  <a:srgbClr val="4A423A"/>
                </a:solidFill>
                <a:latin typeface="Arial" pitchFamily="34" charset="0"/>
                <a:ea typeface="Arial" pitchFamily="34" charset="-122"/>
                <a:cs typeface="Arial" pitchFamily="34" charset="-120"/>
              </a:rPr>
              <a:t>Budgets, pedagogical frameworks, and scheduling — settled before the course begins, not during.</a:t>
            </a:r>
            <a:endParaRPr lang="en-US" sz="1800" dirty="0"/>
          </a:p>
        </p:txBody>
      </p:sp>
      <p:sp>
        <p:nvSpPr>
          <p:cNvPr id="18" name="Shape 16"/>
          <p:cNvSpPr/>
          <p:nvPr/>
        </p:nvSpPr>
        <p:spPr>
          <a:xfrm>
            <a:off x="1143000" y="9329738"/>
            <a:ext cx="16002000" cy="9525"/>
          </a:xfrm>
          <a:prstGeom prst="rect">
            <a:avLst/>
          </a:prstGeom>
          <a:solidFill>
            <a:srgbClr val="D9D1BF"/>
          </a:solidFill>
          <a:ln/>
        </p:spPr>
        <p:txBody>
          <a:bodyPr/>
          <a:lstStyle/>
          <a:p>
            <a:endParaRPr lang="nb-NO"/>
          </a:p>
        </p:txBody>
      </p:sp>
      <p:sp>
        <p:nvSpPr>
          <p:cNvPr id="19" name="Text 17"/>
          <p:cNvSpPr/>
          <p:nvPr/>
        </p:nvSpPr>
        <p:spPr>
          <a:xfrm>
            <a:off x="1143000" y="9548813"/>
            <a:ext cx="4959871"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8A8174"/>
                </a:solidFill>
                <a:latin typeface="Arial" pitchFamily="34" charset="0"/>
                <a:ea typeface="Arial" pitchFamily="34" charset="-122"/>
                <a:cs typeface="Arial" pitchFamily="34" charset="-120"/>
              </a:rPr>
              <a:t>SECTION 03 · RECOMMENDATIONS</a:t>
            </a:r>
            <a:endParaRPr lang="en-US" sz="1800" dirty="0"/>
          </a:p>
        </p:txBody>
      </p:sp>
      <p:sp>
        <p:nvSpPr>
          <p:cNvPr id="20" name="Text 18"/>
          <p:cNvSpPr/>
          <p:nvPr/>
        </p:nvSpPr>
        <p:spPr>
          <a:xfrm>
            <a:off x="16282541" y="9548813"/>
            <a:ext cx="938659"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4A423A"/>
                </a:solidFill>
                <a:latin typeface="Arial" pitchFamily="34" charset="0"/>
                <a:ea typeface="Arial" pitchFamily="34" charset="-122"/>
                <a:cs typeface="Arial" pitchFamily="34" charset="-120"/>
              </a:rPr>
              <a:t>10 / 11</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a:effectLst/>
      </p:bgPr>
    </p:bg>
    <p:spTree>
      <p:nvGrpSpPr>
        <p:cNvPr id="1" name=""/>
        <p:cNvGrpSpPr/>
        <p:nvPr/>
      </p:nvGrpSpPr>
      <p:grpSpPr>
        <a:xfrm>
          <a:off x="0" y="0"/>
          <a:ext cx="0" cy="0"/>
          <a:chOff x="0" y="0"/>
          <a:chExt cx="0" cy="0"/>
        </a:xfrm>
      </p:grpSpPr>
      <p:sp>
        <p:nvSpPr>
          <p:cNvPr id="2" name="Shape 0"/>
          <p:cNvSpPr/>
          <p:nvPr/>
        </p:nvSpPr>
        <p:spPr>
          <a:xfrm>
            <a:off x="1143000" y="1007269"/>
            <a:ext cx="95250" cy="95250"/>
          </a:xfrm>
          <a:prstGeom prst="ellipse">
            <a:avLst/>
          </a:prstGeom>
          <a:solidFill>
            <a:srgbClr val="C96442"/>
          </a:solidFill>
          <a:ln/>
        </p:spPr>
        <p:txBody>
          <a:bodyPr/>
          <a:lstStyle/>
          <a:p>
            <a:endParaRPr lang="nb-NO"/>
          </a:p>
        </p:txBody>
      </p:sp>
      <p:sp>
        <p:nvSpPr>
          <p:cNvPr id="3" name="Text 1"/>
          <p:cNvSpPr/>
          <p:nvPr/>
        </p:nvSpPr>
        <p:spPr>
          <a:xfrm>
            <a:off x="1409700" y="914400"/>
            <a:ext cx="315367" cy="319088"/>
          </a:xfrm>
          <a:prstGeom prst="rect">
            <a:avLst/>
          </a:prstGeom>
          <a:noFill/>
          <a:ln/>
        </p:spPr>
        <p:txBody>
          <a:bodyPr wrap="square" lIns="25400" tIns="25400" rIns="25400" bIns="25400" rtlCol="0" anchor="t">
            <a:normAutofit fontScale="85000" lnSpcReduction="10000"/>
          </a:bodyPr>
          <a:lstStyle/>
          <a:p>
            <a:pPr marL="0" indent="0" algn="l">
              <a:buNone/>
            </a:pPr>
            <a:r>
              <a:rPr lang="en-US" sz="1800" b="1" kern="0" spc="180" dirty="0">
                <a:solidFill>
                  <a:srgbClr val="1F1B16"/>
                </a:solidFill>
                <a:latin typeface="Arial" pitchFamily="34" charset="0"/>
                <a:ea typeface="Arial" pitchFamily="34" charset="-122"/>
                <a:cs typeface="Arial" pitchFamily="34" charset="-120"/>
              </a:rPr>
              <a:t>11</a:t>
            </a:r>
            <a:endParaRPr lang="en-US" sz="1800" dirty="0"/>
          </a:p>
        </p:txBody>
      </p:sp>
      <p:sp>
        <p:nvSpPr>
          <p:cNvPr id="4" name="Text 2"/>
          <p:cNvSpPr/>
          <p:nvPr/>
        </p:nvSpPr>
        <p:spPr>
          <a:xfrm>
            <a:off x="1820317" y="914400"/>
            <a:ext cx="2841624" cy="319088"/>
          </a:xfrm>
          <a:prstGeom prst="rect">
            <a:avLst/>
          </a:prstGeom>
          <a:noFill/>
          <a:ln/>
        </p:spPr>
        <p:txBody>
          <a:bodyPr wrap="square" lIns="25400" tIns="25400" rIns="25400" bIns="25400" rtlCol="0" anchor="t">
            <a:normAutofit lnSpcReduction="10000"/>
          </a:bodyPr>
          <a:lstStyle/>
          <a:p>
            <a:pPr marL="0" indent="0" algn="l">
              <a:buNone/>
            </a:pPr>
            <a:r>
              <a:rPr lang="en-US" sz="1800" kern="0" spc="324" dirty="0">
                <a:solidFill>
                  <a:srgbClr val="8A8174"/>
                </a:solidFill>
                <a:latin typeface="Arial" pitchFamily="34" charset="0"/>
                <a:ea typeface="Arial" pitchFamily="34" charset="-122"/>
                <a:cs typeface="Arial" pitchFamily="34" charset="-120"/>
              </a:rPr>
              <a:t>OVER TO YOU</a:t>
            </a:r>
            <a:endParaRPr lang="en-US" sz="1800" dirty="0"/>
          </a:p>
        </p:txBody>
      </p:sp>
      <p:sp>
        <p:nvSpPr>
          <p:cNvPr id="5" name="Text 3"/>
          <p:cNvSpPr/>
          <p:nvPr/>
        </p:nvSpPr>
        <p:spPr>
          <a:xfrm>
            <a:off x="1143000" y="1462088"/>
            <a:ext cx="16482060" cy="758130"/>
          </a:xfrm>
          <a:prstGeom prst="rect">
            <a:avLst/>
          </a:prstGeom>
          <a:noFill/>
          <a:ln/>
        </p:spPr>
        <p:txBody>
          <a:bodyPr wrap="square" lIns="25400" tIns="25400" rIns="25400" bIns="25400" rtlCol="0" anchor="t">
            <a:normAutofit/>
          </a:bodyPr>
          <a:lstStyle/>
          <a:p>
            <a:pPr marL="0" indent="0" algn="l">
              <a:lnSpc>
                <a:spcPct val="105000"/>
              </a:lnSpc>
              <a:buNone/>
            </a:pPr>
            <a:r>
              <a:rPr lang="en-US" sz="5400" b="1" kern="0" spc="-108" dirty="0">
                <a:solidFill>
                  <a:srgbClr val="1F1B16"/>
                </a:solidFill>
                <a:latin typeface="Arial" pitchFamily="34" charset="0"/>
                <a:ea typeface="Arial" pitchFamily="34" charset="-122"/>
                <a:cs typeface="Arial" pitchFamily="34" charset="-120"/>
              </a:rPr>
              <a:t>Three questions, in your own time.</a:t>
            </a:r>
            <a:endParaRPr lang="en-US" sz="5400" dirty="0"/>
          </a:p>
        </p:txBody>
      </p:sp>
      <p:sp>
        <p:nvSpPr>
          <p:cNvPr id="6" name="Text 4"/>
          <p:cNvSpPr/>
          <p:nvPr/>
        </p:nvSpPr>
        <p:spPr>
          <a:xfrm>
            <a:off x="1143000" y="3214254"/>
            <a:ext cx="838200" cy="495300"/>
          </a:xfrm>
          <a:prstGeom prst="rect">
            <a:avLst/>
          </a:prstGeom>
          <a:noFill/>
          <a:ln/>
        </p:spPr>
        <p:txBody>
          <a:bodyPr wrap="square" lIns="25400" tIns="25400" rIns="25400" bIns="25400" rtlCol="0" anchor="t">
            <a:normAutofit fontScale="92500" lnSpcReduction="20000"/>
          </a:bodyPr>
          <a:lstStyle/>
          <a:p>
            <a:pPr marL="0" indent="0" algn="l">
              <a:buNone/>
            </a:pPr>
            <a:r>
              <a:rPr lang="en-US" sz="3600" i="1" kern="0" spc="-6" dirty="0">
                <a:solidFill>
                  <a:srgbClr val="C96442"/>
                </a:solidFill>
                <a:latin typeface="Georgia" pitchFamily="34" charset="0"/>
                <a:ea typeface="Georgia" pitchFamily="34" charset="-122"/>
                <a:cs typeface="Georgia" pitchFamily="34" charset="-120"/>
              </a:rPr>
              <a:t>i.</a:t>
            </a:r>
            <a:endParaRPr lang="en-US" sz="3600" dirty="0"/>
          </a:p>
        </p:txBody>
      </p:sp>
      <p:sp>
        <p:nvSpPr>
          <p:cNvPr id="7" name="Text 5"/>
          <p:cNvSpPr/>
          <p:nvPr/>
        </p:nvSpPr>
        <p:spPr>
          <a:xfrm>
            <a:off x="2228044" y="3092904"/>
            <a:ext cx="14598396" cy="508620"/>
          </a:xfrm>
          <a:prstGeom prst="rect">
            <a:avLst/>
          </a:prstGeom>
          <a:noFill/>
          <a:ln/>
        </p:spPr>
        <p:txBody>
          <a:bodyPr wrap="square" lIns="25400" tIns="25400" rIns="25400" bIns="25400" rtlCol="0" anchor="t">
            <a:noAutofit/>
          </a:bodyPr>
          <a:lstStyle/>
          <a:p>
            <a:pPr marL="0" indent="0" algn="l">
              <a:lnSpc>
                <a:spcPct val="130000"/>
              </a:lnSpc>
              <a:buNone/>
            </a:pPr>
            <a:r>
              <a:rPr lang="en-US" sz="2850" kern="0" spc="-29" dirty="0">
                <a:solidFill>
                  <a:srgbClr val="1F1B16"/>
                </a:solidFill>
                <a:latin typeface="Arial" pitchFamily="34" charset="0"/>
                <a:ea typeface="Arial" pitchFamily="34" charset="-122"/>
                <a:cs typeface="Arial" pitchFamily="34" charset="-120"/>
              </a:rPr>
              <a:t>Where did I get this wrong, or where did I miss something you actually lived through?</a:t>
            </a:r>
            <a:endParaRPr lang="en-US" sz="2850" dirty="0"/>
          </a:p>
        </p:txBody>
      </p:sp>
      <p:sp>
        <p:nvSpPr>
          <p:cNvPr id="8" name="Shape 6"/>
          <p:cNvSpPr/>
          <p:nvPr/>
        </p:nvSpPr>
        <p:spPr>
          <a:xfrm>
            <a:off x="1161244" y="4090554"/>
            <a:ext cx="15240000" cy="9525"/>
          </a:xfrm>
          <a:prstGeom prst="rect">
            <a:avLst/>
          </a:prstGeom>
          <a:solidFill>
            <a:srgbClr val="D9D1BF"/>
          </a:solidFill>
          <a:ln/>
        </p:spPr>
        <p:txBody>
          <a:bodyPr/>
          <a:lstStyle/>
          <a:p>
            <a:endParaRPr lang="nb-NO"/>
          </a:p>
        </p:txBody>
      </p:sp>
      <p:sp>
        <p:nvSpPr>
          <p:cNvPr id="9" name="Text 7"/>
          <p:cNvSpPr/>
          <p:nvPr/>
        </p:nvSpPr>
        <p:spPr>
          <a:xfrm>
            <a:off x="1161244" y="4676950"/>
            <a:ext cx="838200" cy="495300"/>
          </a:xfrm>
          <a:prstGeom prst="rect">
            <a:avLst/>
          </a:prstGeom>
          <a:noFill/>
          <a:ln/>
        </p:spPr>
        <p:txBody>
          <a:bodyPr wrap="square" lIns="25400" tIns="25400" rIns="25400" bIns="25400" rtlCol="0" anchor="t">
            <a:normAutofit fontScale="92500" lnSpcReduction="20000"/>
          </a:bodyPr>
          <a:lstStyle/>
          <a:p>
            <a:pPr marL="0" indent="0" algn="l">
              <a:buNone/>
            </a:pPr>
            <a:r>
              <a:rPr lang="en-US" sz="3600" i="1" kern="0" spc="-6" dirty="0">
                <a:solidFill>
                  <a:srgbClr val="C96442"/>
                </a:solidFill>
                <a:latin typeface="Georgia" pitchFamily="34" charset="0"/>
                <a:ea typeface="Georgia" pitchFamily="34" charset="-122"/>
                <a:cs typeface="Georgia" pitchFamily="34" charset="-120"/>
              </a:rPr>
              <a:t>ii.</a:t>
            </a:r>
            <a:endParaRPr lang="en-US" sz="3600" dirty="0"/>
          </a:p>
        </p:txBody>
      </p:sp>
      <p:sp>
        <p:nvSpPr>
          <p:cNvPr id="10" name="Text 8"/>
          <p:cNvSpPr/>
          <p:nvPr/>
        </p:nvSpPr>
        <p:spPr>
          <a:xfrm>
            <a:off x="2228044" y="4657900"/>
            <a:ext cx="14598396" cy="979140"/>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850" kern="0" spc="-29" dirty="0">
                <a:solidFill>
                  <a:srgbClr val="1F1B16"/>
                </a:solidFill>
                <a:latin typeface="Arial" pitchFamily="34" charset="0"/>
                <a:ea typeface="Arial" pitchFamily="34" charset="-122"/>
                <a:cs typeface="Arial" pitchFamily="34" charset="-120"/>
              </a:rPr>
              <a:t>Of the four recommendations, which one would meaningfully change </a:t>
            </a:r>
            <a:r>
              <a:rPr lang="en-US" sz="2850" i="1" kern="0" spc="-29" dirty="0">
                <a:solidFill>
                  <a:srgbClr val="1F1B16"/>
                </a:solidFill>
                <a:latin typeface="Arial" pitchFamily="34" charset="0"/>
                <a:ea typeface="Arial" pitchFamily="34" charset="-122"/>
                <a:cs typeface="Arial" pitchFamily="34" charset="-120"/>
              </a:rPr>
              <a:t>your </a:t>
            </a:r>
            <a:r>
              <a:rPr lang="en-US" sz="2850" kern="0" spc="-29" dirty="0">
                <a:solidFill>
                  <a:srgbClr val="1F1B16"/>
                </a:solidFill>
                <a:latin typeface="Arial" pitchFamily="34" charset="0"/>
                <a:ea typeface="Arial" pitchFamily="34" charset="-122"/>
                <a:cs typeface="Arial" pitchFamily="34" charset="-120"/>
              </a:rPr>
              <a:t>experience the most?</a:t>
            </a:r>
            <a:endParaRPr lang="en-US" sz="2850" dirty="0"/>
          </a:p>
        </p:txBody>
      </p:sp>
      <p:sp>
        <p:nvSpPr>
          <p:cNvPr id="11" name="Shape 9"/>
          <p:cNvSpPr/>
          <p:nvPr/>
        </p:nvSpPr>
        <p:spPr>
          <a:xfrm>
            <a:off x="1161244" y="5765019"/>
            <a:ext cx="15240000" cy="9525"/>
          </a:xfrm>
          <a:prstGeom prst="rect">
            <a:avLst/>
          </a:prstGeom>
          <a:solidFill>
            <a:srgbClr val="D9D1BF"/>
          </a:solidFill>
          <a:ln/>
        </p:spPr>
        <p:txBody>
          <a:bodyPr/>
          <a:lstStyle/>
          <a:p>
            <a:endParaRPr lang="nb-NO"/>
          </a:p>
        </p:txBody>
      </p:sp>
      <p:sp>
        <p:nvSpPr>
          <p:cNvPr id="12" name="Text 10"/>
          <p:cNvSpPr/>
          <p:nvPr/>
        </p:nvSpPr>
        <p:spPr>
          <a:xfrm>
            <a:off x="1161244" y="6098394"/>
            <a:ext cx="838200" cy="495300"/>
          </a:xfrm>
          <a:prstGeom prst="rect">
            <a:avLst/>
          </a:prstGeom>
          <a:noFill/>
          <a:ln/>
        </p:spPr>
        <p:txBody>
          <a:bodyPr wrap="square" lIns="25400" tIns="25400" rIns="25400" bIns="25400" rtlCol="0" anchor="t">
            <a:normAutofit fontScale="92500" lnSpcReduction="20000"/>
          </a:bodyPr>
          <a:lstStyle/>
          <a:p>
            <a:pPr marL="0" indent="0" algn="l">
              <a:buNone/>
            </a:pPr>
            <a:r>
              <a:rPr lang="en-US" sz="3600" i="1" kern="0" spc="-6" dirty="0">
                <a:solidFill>
                  <a:srgbClr val="C96442"/>
                </a:solidFill>
                <a:latin typeface="Georgia" pitchFamily="34" charset="0"/>
                <a:ea typeface="Georgia" pitchFamily="34" charset="-122"/>
                <a:cs typeface="Georgia" pitchFamily="34" charset="-120"/>
              </a:rPr>
              <a:t>iii.</a:t>
            </a:r>
            <a:endParaRPr lang="en-US" sz="3600" dirty="0"/>
          </a:p>
        </p:txBody>
      </p:sp>
      <p:sp>
        <p:nvSpPr>
          <p:cNvPr id="13" name="Text 11"/>
          <p:cNvSpPr/>
          <p:nvPr/>
        </p:nvSpPr>
        <p:spPr>
          <a:xfrm>
            <a:off x="2228044" y="6079344"/>
            <a:ext cx="14598396" cy="97914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850" kern="0" spc="-29" dirty="0">
                <a:solidFill>
                  <a:srgbClr val="1F1B16"/>
                </a:solidFill>
                <a:latin typeface="Arial" pitchFamily="34" charset="0"/>
                <a:ea typeface="Arial" pitchFamily="34" charset="-122"/>
                <a:cs typeface="Arial" pitchFamily="34" charset="-120"/>
              </a:rPr>
              <a:t>What should the next iteration of MAIL hold onto from this one — even if we change everything else around it?</a:t>
            </a:r>
            <a:endParaRPr lang="en-US" sz="2850" dirty="0"/>
          </a:p>
        </p:txBody>
      </p:sp>
      <p:sp>
        <p:nvSpPr>
          <p:cNvPr id="14" name="Shape 12"/>
          <p:cNvSpPr/>
          <p:nvPr/>
        </p:nvSpPr>
        <p:spPr>
          <a:xfrm>
            <a:off x="1143000" y="9329738"/>
            <a:ext cx="16002000" cy="9525"/>
          </a:xfrm>
          <a:prstGeom prst="rect">
            <a:avLst/>
          </a:prstGeom>
          <a:solidFill>
            <a:srgbClr val="D9D1BF"/>
          </a:solidFill>
          <a:ln/>
        </p:spPr>
        <p:txBody>
          <a:bodyPr/>
          <a:lstStyle/>
          <a:p>
            <a:endParaRPr lang="nb-NO"/>
          </a:p>
        </p:txBody>
      </p:sp>
      <p:sp>
        <p:nvSpPr>
          <p:cNvPr id="15" name="Text 13"/>
          <p:cNvSpPr/>
          <p:nvPr/>
        </p:nvSpPr>
        <p:spPr>
          <a:xfrm>
            <a:off x="1143000" y="9548813"/>
            <a:ext cx="6263397" cy="31908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8A8174"/>
                </a:solidFill>
                <a:latin typeface="Arial" pitchFamily="34" charset="0"/>
                <a:ea typeface="Arial" pitchFamily="34" charset="-122"/>
                <a:cs typeface="Arial" pitchFamily="34" charset="-120"/>
              </a:rPr>
              <a:t>THANK YOU · OLE.GOETHE@KRISTIANIA.NO</a:t>
            </a:r>
            <a:endParaRPr lang="en-US" sz="1800" dirty="0"/>
          </a:p>
        </p:txBody>
      </p:sp>
      <p:sp>
        <p:nvSpPr>
          <p:cNvPr id="16" name="Text 14"/>
          <p:cNvSpPr/>
          <p:nvPr/>
        </p:nvSpPr>
        <p:spPr>
          <a:xfrm>
            <a:off x="16335226" y="9548813"/>
            <a:ext cx="1289834" cy="252413"/>
          </a:xfrm>
          <a:prstGeom prst="rect">
            <a:avLst/>
          </a:prstGeom>
          <a:noFill/>
          <a:ln/>
        </p:spPr>
        <p:txBody>
          <a:bodyPr wrap="square" lIns="25400" tIns="25400" rIns="25400" bIns="25400" rtlCol="0" anchor="t">
            <a:normAutofit fontScale="85000" lnSpcReduction="20000"/>
          </a:bodyPr>
          <a:lstStyle/>
          <a:p>
            <a:pPr marL="0" indent="0" algn="l">
              <a:buNone/>
            </a:pPr>
            <a:r>
              <a:rPr lang="en-US" sz="1800" kern="0" spc="252" dirty="0">
                <a:solidFill>
                  <a:srgbClr val="4A423A"/>
                </a:solidFill>
                <a:latin typeface="Arial" pitchFamily="34" charset="0"/>
                <a:ea typeface="Arial" pitchFamily="34" charset="-122"/>
                <a:cs typeface="Arial" pitchFamily="34" charset="-120"/>
              </a:rPr>
              <a:t>11 / 11</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2334</Words>
  <Application>Microsoft Macintosh PowerPoint</Application>
  <PresentationFormat>Egendefinert</PresentationFormat>
  <Paragraphs>166</Paragraphs>
  <Slides>11</Slides>
  <Notes>11</Notes>
  <HiddenSlides>0</HiddenSlides>
  <MMClips>0</MMClips>
  <ScaleCrop>false</ScaleCrop>
  <HeadingPairs>
    <vt:vector size="6" baseType="variant">
      <vt:variant>
        <vt:lpstr>Brukte skrifter</vt:lpstr>
      </vt:variant>
      <vt:variant>
        <vt:i4>2</vt:i4>
      </vt:variant>
      <vt:variant>
        <vt:lpstr>Tema</vt:lpstr>
      </vt:variant>
      <vt:variant>
        <vt:i4>1</vt:i4>
      </vt:variant>
      <vt:variant>
        <vt:lpstr>Lysbildetitler</vt:lpstr>
      </vt:variant>
      <vt:variant>
        <vt:i4>11</vt:i4>
      </vt:variant>
    </vt:vector>
  </HeadingPairs>
  <TitlesOfParts>
    <vt:vector size="14" baseType="lpstr">
      <vt:lpstr>Arial</vt:lpstr>
      <vt:lpstr>Georgia</vt:lpstr>
      <vt:lpstr>Office Theme</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Ole Goethe</cp:lastModifiedBy>
  <cp:revision>3</cp:revision>
  <dcterms:created xsi:type="dcterms:W3CDTF">2026-05-06T11:59:32Z</dcterms:created>
  <dcterms:modified xsi:type="dcterms:W3CDTF">2026-05-06T14:32:24Z</dcterms:modified>
</cp:coreProperties>
</file>